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5"/>
  </p:notesMasterIdLst>
  <p:handoutMasterIdLst>
    <p:handoutMasterId r:id="rId16"/>
  </p:handoutMasterIdLst>
  <p:sldIdLst>
    <p:sldId id="256" r:id="rId2"/>
    <p:sldId id="296" r:id="rId3"/>
    <p:sldId id="309" r:id="rId4"/>
    <p:sldId id="298" r:id="rId5"/>
    <p:sldId id="301" r:id="rId6"/>
    <p:sldId id="311" r:id="rId7"/>
    <p:sldId id="302" r:id="rId8"/>
    <p:sldId id="303" r:id="rId9"/>
    <p:sldId id="304" r:id="rId10"/>
    <p:sldId id="305" r:id="rId11"/>
    <p:sldId id="306" r:id="rId12"/>
    <p:sldId id="307" r:id="rId13"/>
    <p:sldId id="308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C1C2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66" d="100"/>
          <a:sy n="66" d="100"/>
        </p:scale>
        <p:origin x="900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0" d="100"/>
          <a:sy n="60" d="100"/>
        </p:scale>
        <p:origin x="3187" y="4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handoutMaster" Target="handoutMasters/handout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E7EFED6-7DA9-4FE5-A397-80A8712ACE3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D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239AAA0-57D9-4D63-AB1B-661BE4097BBC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0AAB8DD-EB46-4ADC-8F1B-C827D945DA2A}" type="datetimeFigureOut">
              <a:rPr lang="en-ID" smtClean="0"/>
              <a:t>25/09/2026</a:t>
            </a:fld>
            <a:endParaRPr lang="en-ID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4FE7A56-284C-4802-8081-8833D4C1EEE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D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89DB4DA-E274-407D-8A40-BD8382D5045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1BE6CC-7FF4-47A3-AF8B-C3C5A7CD63FD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83996749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D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EDA45B8-9AAE-47BC-A3A1-495EA90DB835}" type="datetimeFigureOut">
              <a:rPr lang="en-ID" smtClean="0"/>
              <a:t>25/09/2026</a:t>
            </a:fld>
            <a:endParaRPr lang="en-ID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D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D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393B51-2076-45D4-9A02-15D0718AB1D0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5283843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8C533A-1EE4-43DC-972C-E2879308C10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939800"/>
            <a:ext cx="9144000" cy="2717800"/>
          </a:xfrm>
          <a:prstGeom prst="rect">
            <a:avLst/>
          </a:prstGeom>
        </p:spPr>
        <p:txBody>
          <a:bodyPr anchor="ctr"/>
          <a:lstStyle>
            <a:lvl1pPr algn="ctr">
              <a:defRPr sz="6000">
                <a:solidFill>
                  <a:schemeClr val="tx1">
                    <a:lumMod val="90000"/>
                    <a:lumOff val="10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3B6C3D7-4C7D-4A4D-A172-F39A418953F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907438"/>
            <a:ext cx="9144000" cy="2000602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2400">
                <a:solidFill>
                  <a:schemeClr val="tx1">
                    <a:lumMod val="90000"/>
                    <a:lumOff val="1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D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60350B2-29AE-4140-A1E5-8A1962698F4B}"/>
              </a:ext>
            </a:extLst>
          </p:cNvPr>
          <p:cNvCxnSpPr>
            <a:cxnSpLocks/>
          </p:cNvCxnSpPr>
          <p:nvPr userDrawn="1"/>
        </p:nvCxnSpPr>
        <p:spPr>
          <a:xfrm>
            <a:off x="883920" y="3788058"/>
            <a:ext cx="10444480" cy="0"/>
          </a:xfrm>
          <a:prstGeom prst="line">
            <a:avLst/>
          </a:prstGeom>
          <a:ln w="57150">
            <a:solidFill>
              <a:schemeClr val="tx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816179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ut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ADCBF5-B3C1-4BDF-A76E-DDA5BBE3F2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682240" y="1"/>
            <a:ext cx="9509760" cy="831496"/>
          </a:xfrm>
          <a:prstGeom prst="rect">
            <a:avLst/>
          </a:prstGeom>
        </p:spPr>
        <p:txBody>
          <a:bodyPr anchor="ctr"/>
          <a:lstStyle>
            <a:lvl1pPr algn="r">
              <a:defRPr/>
            </a:lvl1pPr>
          </a:lstStyle>
          <a:p>
            <a:r>
              <a:rPr lang="en-US"/>
              <a:t>Outline</a:t>
            </a:r>
            <a:endParaRPr lang="en-ID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4E964B2-7086-4703-8F10-748D7F6732D2}"/>
              </a:ext>
            </a:extLst>
          </p:cNvPr>
          <p:cNvCxnSpPr>
            <a:cxnSpLocks/>
          </p:cNvCxnSpPr>
          <p:nvPr userDrawn="1"/>
        </p:nvCxnSpPr>
        <p:spPr>
          <a:xfrm>
            <a:off x="0" y="831498"/>
            <a:ext cx="12192000" cy="0"/>
          </a:xfrm>
          <a:prstGeom prst="line">
            <a:avLst/>
          </a:prstGeom>
          <a:ln w="57150">
            <a:solidFill>
              <a:schemeClr val="tx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F50A1D4D-465B-49A1-BFE3-8143DE6E3041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0" y="831497"/>
            <a:ext cx="12192000" cy="5447379"/>
          </a:xfrm>
          <a:prstGeom prst="rect">
            <a:avLst/>
          </a:prstGeom>
        </p:spPr>
        <p:txBody>
          <a:bodyPr anchor="ctr"/>
          <a:lstStyle>
            <a:lvl1pPr marL="720725" indent="-720725">
              <a:lnSpc>
                <a:spcPct val="120000"/>
              </a:lnSpc>
              <a:buFont typeface="Wingdings" panose="05000000000000000000" pitchFamily="2" charset="2"/>
              <a:buChar char="q"/>
              <a:defRPr sz="4000">
                <a:latin typeface="+mj-lt"/>
              </a:defRPr>
            </a:lvl1pPr>
          </a:lstStyle>
          <a:p>
            <a:pPr lvl="0"/>
            <a:r>
              <a:rPr lang="fr-FR"/>
              <a:t>Content 1</a:t>
            </a:r>
          </a:p>
          <a:p>
            <a:pPr lvl="0"/>
            <a:r>
              <a:rPr lang="fr-FR"/>
              <a:t>Content 2</a:t>
            </a:r>
          </a:p>
          <a:p>
            <a:pPr lvl="0"/>
            <a:r>
              <a:rPr lang="fr-FR"/>
              <a:t>Content 3</a:t>
            </a:r>
          </a:p>
          <a:p>
            <a:pPr lvl="0"/>
            <a:r>
              <a:rPr lang="fr-FR"/>
              <a:t>Content 4</a:t>
            </a:r>
          </a:p>
          <a:p>
            <a:pPr lvl="0"/>
            <a:r>
              <a:rPr lang="fr-FR"/>
              <a:t>Content 5</a:t>
            </a:r>
          </a:p>
          <a:p>
            <a:pPr lvl="0"/>
            <a:r>
              <a:rPr lang="fr-FR"/>
              <a:t>Content 6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F1C154EF-4CA5-42A1-BDDD-309EB1D8FC0B}"/>
              </a:ext>
            </a:extLst>
          </p:cNvPr>
          <p:cNvCxnSpPr>
            <a:cxnSpLocks/>
          </p:cNvCxnSpPr>
          <p:nvPr userDrawn="1"/>
        </p:nvCxnSpPr>
        <p:spPr>
          <a:xfrm>
            <a:off x="0" y="6278880"/>
            <a:ext cx="12192000" cy="0"/>
          </a:xfrm>
          <a:prstGeom prst="line">
            <a:avLst/>
          </a:prstGeom>
          <a:ln w="57150">
            <a:solidFill>
              <a:schemeClr val="tx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424755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CF5D17-0995-4F0A-8464-143FE313431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0" y="1648382"/>
            <a:ext cx="12192000" cy="5209615"/>
          </a:xfrm>
          <a:prstGeom prst="rect">
            <a:avLst/>
          </a:prstGeom>
        </p:spPr>
        <p:txBody>
          <a:bodyPr/>
          <a:lstStyle>
            <a:lvl1pPr>
              <a:defRPr/>
            </a:lvl1pPr>
            <a:lvl2pPr marL="355600" indent="-355600">
              <a:lnSpc>
                <a:spcPct val="120000"/>
              </a:lnSpc>
              <a:buFont typeface="Wingdings" panose="05000000000000000000" pitchFamily="2" charset="2"/>
              <a:buChar char="§"/>
              <a:defRPr sz="2800"/>
            </a:lvl2pPr>
          </a:lstStyle>
          <a:p>
            <a:pPr lvl="1"/>
            <a:r>
              <a:rPr lang="en-US"/>
              <a:t>Second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6ADCBF5-B3C1-4BDF-A76E-DDA5BBE3F2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82240" y="1"/>
            <a:ext cx="9509760" cy="831496"/>
          </a:xfrm>
          <a:prstGeom prst="rect">
            <a:avLst/>
          </a:prstGeom>
        </p:spPr>
        <p:txBody>
          <a:bodyPr anchor="ctr"/>
          <a:lstStyle>
            <a:lvl1pPr algn="r">
              <a:defRPr/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4E964B2-7086-4703-8F10-748D7F6732D2}"/>
              </a:ext>
            </a:extLst>
          </p:cNvPr>
          <p:cNvCxnSpPr>
            <a:cxnSpLocks/>
          </p:cNvCxnSpPr>
          <p:nvPr userDrawn="1"/>
        </p:nvCxnSpPr>
        <p:spPr>
          <a:xfrm>
            <a:off x="0" y="831498"/>
            <a:ext cx="12192000" cy="0"/>
          </a:xfrm>
          <a:prstGeom prst="line">
            <a:avLst/>
          </a:prstGeom>
          <a:ln w="57150">
            <a:solidFill>
              <a:schemeClr val="tx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BD42E61-3AFB-4BB2-8DC7-F251032310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0" y="939799"/>
            <a:ext cx="12192000" cy="707877"/>
          </a:xfrm>
          <a:prstGeom prst="rect">
            <a:avLst/>
          </a:prstGeom>
        </p:spPr>
        <p:txBody>
          <a:bodyPr/>
          <a:lstStyle>
            <a:lvl1pPr marL="720725" indent="-720725">
              <a:lnSpc>
                <a:spcPct val="100000"/>
              </a:lnSpc>
              <a:buFont typeface="Wingdings" panose="05000000000000000000" pitchFamily="2" charset="2"/>
              <a:buChar char="q"/>
              <a:defRPr sz="4000">
                <a:latin typeface="+mj-lt"/>
              </a:defRPr>
            </a:lvl1pPr>
          </a:lstStyle>
          <a:p>
            <a:pPr lvl="0"/>
            <a:r>
              <a:rPr lang="en-US"/>
              <a:t>First level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B58DEBA-3BF9-45F1-BDFB-F4E509E8113B}"/>
              </a:ext>
            </a:extLst>
          </p:cNvPr>
          <p:cNvCxnSpPr>
            <a:cxnSpLocks/>
          </p:cNvCxnSpPr>
          <p:nvPr userDrawn="1"/>
        </p:nvCxnSpPr>
        <p:spPr>
          <a:xfrm>
            <a:off x="0" y="6291580"/>
            <a:ext cx="12192000" cy="0"/>
          </a:xfrm>
          <a:prstGeom prst="line">
            <a:avLst/>
          </a:prstGeom>
          <a:ln w="57150">
            <a:solidFill>
              <a:schemeClr val="tx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222738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EB4E9F-C391-4881-819D-68A0ECD913F9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0" y="1648382"/>
            <a:ext cx="6019800" cy="5209618"/>
          </a:xfrm>
          <a:prstGeom prst="rect">
            <a:avLst/>
          </a:prstGeom>
        </p:spPr>
        <p:txBody>
          <a:bodyPr/>
          <a:lstStyle>
            <a:lvl1pPr marL="355600" indent="-355600">
              <a:lnSpc>
                <a:spcPct val="12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/>
            </a:lvl1pPr>
          </a:lstStyle>
          <a:p>
            <a:pPr lvl="0"/>
            <a:r>
              <a:rPr lang="en-US"/>
              <a:t>Second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BC1F542-6B23-4D0B-8DA9-28771F394D1E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172202" y="1648382"/>
            <a:ext cx="6019800" cy="5209618"/>
          </a:xfrm>
          <a:prstGeom prst="rect">
            <a:avLst/>
          </a:prstGeom>
        </p:spPr>
        <p:txBody>
          <a:bodyPr/>
          <a:lstStyle>
            <a:lvl1pPr marL="355600" indent="-355600">
              <a:lnSpc>
                <a:spcPct val="12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/>
            </a:lvl1pPr>
          </a:lstStyle>
          <a:p>
            <a:pPr lvl="0"/>
            <a:r>
              <a:rPr lang="en-US"/>
              <a:t>Second level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AC0D3C44-D9B8-4250-82ED-DC47865C2DFE}"/>
              </a:ext>
            </a:extLst>
          </p:cNvPr>
          <p:cNvCxnSpPr>
            <a:cxnSpLocks/>
          </p:cNvCxnSpPr>
          <p:nvPr userDrawn="1"/>
        </p:nvCxnSpPr>
        <p:spPr>
          <a:xfrm>
            <a:off x="0" y="831498"/>
            <a:ext cx="12192000" cy="0"/>
          </a:xfrm>
          <a:prstGeom prst="line">
            <a:avLst/>
          </a:prstGeom>
          <a:ln w="57150">
            <a:solidFill>
              <a:schemeClr val="tx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itle 1">
            <a:extLst>
              <a:ext uri="{FF2B5EF4-FFF2-40B4-BE49-F238E27FC236}">
                <a16:creationId xmlns:a16="http://schemas.microsoft.com/office/drawing/2014/main" id="{51B438F7-195C-4DA4-A913-ECC58BAE47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82240" y="1"/>
            <a:ext cx="9509760" cy="831496"/>
          </a:xfrm>
          <a:prstGeom prst="rect">
            <a:avLst/>
          </a:prstGeom>
        </p:spPr>
        <p:txBody>
          <a:bodyPr anchor="ctr"/>
          <a:lstStyle>
            <a:lvl1pPr algn="r">
              <a:defRPr/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2DBDC6AF-516F-4CD4-B516-3A52FBE750B1}"/>
              </a:ext>
            </a:extLst>
          </p:cNvPr>
          <p:cNvCxnSpPr>
            <a:cxnSpLocks/>
          </p:cNvCxnSpPr>
          <p:nvPr userDrawn="1"/>
        </p:nvCxnSpPr>
        <p:spPr>
          <a:xfrm>
            <a:off x="6096000" y="1648382"/>
            <a:ext cx="0" cy="4473018"/>
          </a:xfrm>
          <a:prstGeom prst="line">
            <a:avLst/>
          </a:prstGeom>
          <a:ln w="57150">
            <a:solidFill>
              <a:schemeClr val="tx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ED79122-7A98-4843-929C-1842A1CFBA16}"/>
              </a:ext>
            </a:extLst>
          </p:cNvPr>
          <p:cNvCxnSpPr>
            <a:cxnSpLocks/>
          </p:cNvCxnSpPr>
          <p:nvPr userDrawn="1"/>
        </p:nvCxnSpPr>
        <p:spPr>
          <a:xfrm>
            <a:off x="0" y="6291580"/>
            <a:ext cx="12192000" cy="0"/>
          </a:xfrm>
          <a:prstGeom prst="line">
            <a:avLst/>
          </a:prstGeom>
          <a:ln w="57150">
            <a:solidFill>
              <a:schemeClr val="tx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Content Placeholder 4">
            <a:extLst>
              <a:ext uri="{FF2B5EF4-FFF2-40B4-BE49-F238E27FC236}">
                <a16:creationId xmlns:a16="http://schemas.microsoft.com/office/drawing/2014/main" id="{E5EE2EFC-3912-4FD4-BA26-9682FA9EF009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0" y="939799"/>
            <a:ext cx="12192000" cy="707877"/>
          </a:xfrm>
          <a:prstGeom prst="rect">
            <a:avLst/>
          </a:prstGeom>
        </p:spPr>
        <p:txBody>
          <a:bodyPr/>
          <a:lstStyle>
            <a:lvl1pPr marL="720725" indent="-720725">
              <a:lnSpc>
                <a:spcPct val="100000"/>
              </a:lnSpc>
              <a:buFont typeface="Wingdings" panose="05000000000000000000" pitchFamily="2" charset="2"/>
              <a:buChar char="q"/>
              <a:defRPr sz="4000">
                <a:latin typeface="+mj-lt"/>
              </a:defRPr>
            </a:lvl1pPr>
          </a:lstStyle>
          <a:p>
            <a:pPr lvl="0"/>
            <a:r>
              <a:rPr lang="en-US"/>
              <a:t>First level</a:t>
            </a:r>
          </a:p>
        </p:txBody>
      </p:sp>
    </p:spTree>
    <p:extLst>
      <p:ext uri="{BB962C8B-B14F-4D97-AF65-F5344CB8AC3E}">
        <p14:creationId xmlns:p14="http://schemas.microsoft.com/office/powerpoint/2010/main" val="35230873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CE98CCC-CC83-4AB6-BF8C-222162834F5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286500" y="1755976"/>
            <a:ext cx="5905499" cy="453559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D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8D4766-E182-4EA6-8FE9-089C8A921A4D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0" y="1647677"/>
            <a:ext cx="5905499" cy="4643902"/>
          </a:xfrm>
          <a:prstGeom prst="rect">
            <a:avLst/>
          </a:prstGeom>
        </p:spPr>
        <p:txBody>
          <a:bodyPr/>
          <a:lstStyle>
            <a:lvl1pPr marL="355600" indent="-355600">
              <a:lnSpc>
                <a:spcPct val="12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2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Second level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29F551B-A8BB-4B00-8F41-AFFC5DE46961}"/>
              </a:ext>
            </a:extLst>
          </p:cNvPr>
          <p:cNvCxnSpPr>
            <a:cxnSpLocks/>
          </p:cNvCxnSpPr>
          <p:nvPr userDrawn="1"/>
        </p:nvCxnSpPr>
        <p:spPr>
          <a:xfrm>
            <a:off x="0" y="831498"/>
            <a:ext cx="12192000" cy="0"/>
          </a:xfrm>
          <a:prstGeom prst="line">
            <a:avLst/>
          </a:prstGeom>
          <a:ln w="57150">
            <a:solidFill>
              <a:schemeClr val="tx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itle 1">
            <a:extLst>
              <a:ext uri="{FF2B5EF4-FFF2-40B4-BE49-F238E27FC236}">
                <a16:creationId xmlns:a16="http://schemas.microsoft.com/office/drawing/2014/main" id="{2E576B16-ED5D-4704-95BE-A04D7A6D81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82240" y="1"/>
            <a:ext cx="9509760" cy="831496"/>
          </a:xfrm>
          <a:prstGeom prst="rect">
            <a:avLst/>
          </a:prstGeom>
        </p:spPr>
        <p:txBody>
          <a:bodyPr anchor="ctr"/>
          <a:lstStyle>
            <a:lvl1pPr algn="r">
              <a:defRPr/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9BE3877-4B4E-4996-8A37-2205B63BCDA7}"/>
              </a:ext>
            </a:extLst>
          </p:cNvPr>
          <p:cNvCxnSpPr>
            <a:cxnSpLocks/>
          </p:cNvCxnSpPr>
          <p:nvPr userDrawn="1"/>
        </p:nvCxnSpPr>
        <p:spPr>
          <a:xfrm>
            <a:off x="0" y="6291580"/>
            <a:ext cx="12192000" cy="0"/>
          </a:xfrm>
          <a:prstGeom prst="line">
            <a:avLst/>
          </a:prstGeom>
          <a:ln w="57150">
            <a:solidFill>
              <a:schemeClr val="tx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159479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3005BF4F-F316-43B2-A90C-6A3C06960FBE}"/>
              </a:ext>
            </a:extLst>
          </p:cNvPr>
          <p:cNvCxnSpPr>
            <a:cxnSpLocks/>
          </p:cNvCxnSpPr>
          <p:nvPr userDrawn="1"/>
        </p:nvCxnSpPr>
        <p:spPr>
          <a:xfrm>
            <a:off x="0" y="831498"/>
            <a:ext cx="12192000" cy="0"/>
          </a:xfrm>
          <a:prstGeom prst="line">
            <a:avLst/>
          </a:prstGeom>
          <a:ln w="57150">
            <a:solidFill>
              <a:schemeClr val="tx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itle 1">
            <a:extLst>
              <a:ext uri="{FF2B5EF4-FFF2-40B4-BE49-F238E27FC236}">
                <a16:creationId xmlns:a16="http://schemas.microsoft.com/office/drawing/2014/main" id="{5BD83237-FF62-4B41-8146-D7D32FF3A2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82240" y="1"/>
            <a:ext cx="9509760" cy="831496"/>
          </a:xfrm>
          <a:prstGeom prst="rect">
            <a:avLst/>
          </a:prstGeom>
        </p:spPr>
        <p:txBody>
          <a:bodyPr anchor="ctr"/>
          <a:lstStyle>
            <a:lvl1pPr algn="r">
              <a:defRPr/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EC2BCE6-624D-42F4-8065-5F79F7506ABB}"/>
              </a:ext>
            </a:extLst>
          </p:cNvPr>
          <p:cNvCxnSpPr>
            <a:cxnSpLocks/>
          </p:cNvCxnSpPr>
          <p:nvPr userDrawn="1"/>
        </p:nvCxnSpPr>
        <p:spPr>
          <a:xfrm>
            <a:off x="0" y="6291580"/>
            <a:ext cx="12192000" cy="0"/>
          </a:xfrm>
          <a:prstGeom prst="line">
            <a:avLst/>
          </a:prstGeom>
          <a:ln w="57150">
            <a:solidFill>
              <a:schemeClr val="tx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Content Placeholder 4">
            <a:extLst>
              <a:ext uri="{FF2B5EF4-FFF2-40B4-BE49-F238E27FC236}">
                <a16:creationId xmlns:a16="http://schemas.microsoft.com/office/drawing/2014/main" id="{1C602838-CE0C-4629-A6A0-530F7D243D0E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0" y="939799"/>
            <a:ext cx="12192000" cy="707877"/>
          </a:xfrm>
          <a:prstGeom prst="rect">
            <a:avLst/>
          </a:prstGeom>
        </p:spPr>
        <p:txBody>
          <a:bodyPr/>
          <a:lstStyle>
            <a:lvl1pPr marL="720725" indent="-720725">
              <a:lnSpc>
                <a:spcPct val="100000"/>
              </a:lnSpc>
              <a:buFont typeface="Wingdings" panose="05000000000000000000" pitchFamily="2" charset="2"/>
              <a:buChar char="q"/>
              <a:defRPr sz="4000">
                <a:latin typeface="+mj-lt"/>
              </a:defRPr>
            </a:lvl1pPr>
          </a:lstStyle>
          <a:p>
            <a:pPr lvl="0"/>
            <a:r>
              <a:rPr lang="en-US"/>
              <a:t>First level</a:t>
            </a:r>
          </a:p>
        </p:txBody>
      </p:sp>
    </p:spTree>
    <p:extLst>
      <p:ext uri="{BB962C8B-B14F-4D97-AF65-F5344CB8AC3E}">
        <p14:creationId xmlns:p14="http://schemas.microsoft.com/office/powerpoint/2010/main" val="4431427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4E964B2-7086-4703-8F10-748D7F6732D2}"/>
              </a:ext>
            </a:extLst>
          </p:cNvPr>
          <p:cNvCxnSpPr>
            <a:cxnSpLocks/>
          </p:cNvCxnSpPr>
          <p:nvPr userDrawn="1"/>
        </p:nvCxnSpPr>
        <p:spPr>
          <a:xfrm>
            <a:off x="0" y="831498"/>
            <a:ext cx="12192000" cy="0"/>
          </a:xfrm>
          <a:prstGeom prst="line">
            <a:avLst/>
          </a:prstGeom>
          <a:ln w="57150">
            <a:solidFill>
              <a:schemeClr val="tx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BD42E61-3AFB-4BB2-8DC7-F251032310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0" y="1007675"/>
            <a:ext cx="12192000" cy="707877"/>
          </a:xfrm>
          <a:prstGeom prst="rect">
            <a:avLst/>
          </a:prstGeom>
        </p:spPr>
        <p:txBody>
          <a:bodyPr/>
          <a:lstStyle>
            <a:lvl1pPr marL="720725" indent="-720725">
              <a:lnSpc>
                <a:spcPct val="100000"/>
              </a:lnSpc>
              <a:spcBef>
                <a:spcPts val="0"/>
              </a:spcBef>
              <a:buFont typeface="Wingdings" panose="05000000000000000000" pitchFamily="2" charset="2"/>
              <a:buChar char="q"/>
              <a:defRPr sz="35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First level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24199F77-6A56-4EF6-B23A-69BBB05846F0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0" y="1876817"/>
            <a:ext cx="12192000" cy="4414762"/>
          </a:xfrm>
          <a:prstGeom prst="rect">
            <a:avLst/>
          </a:prstGeom>
        </p:spPr>
        <p:txBody>
          <a:bodyPr/>
          <a:lstStyle>
            <a:lvl1pPr marL="355600" indent="-355600">
              <a:lnSpc>
                <a:spcPct val="150000"/>
              </a:lnSpc>
              <a:spcBef>
                <a:spcPts val="0"/>
              </a:spcBef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Second level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DE36DA63-DE21-40E4-876D-74B8E2E45A7E}"/>
              </a:ext>
            </a:extLst>
          </p:cNvPr>
          <p:cNvCxnSpPr>
            <a:cxnSpLocks/>
          </p:cNvCxnSpPr>
          <p:nvPr userDrawn="1"/>
        </p:nvCxnSpPr>
        <p:spPr>
          <a:xfrm>
            <a:off x="0" y="6319375"/>
            <a:ext cx="12192000" cy="0"/>
          </a:xfrm>
          <a:prstGeom prst="line">
            <a:avLst/>
          </a:prstGeom>
          <a:ln w="57150">
            <a:solidFill>
              <a:schemeClr val="tx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itle 1">
            <a:extLst>
              <a:ext uri="{FF2B5EF4-FFF2-40B4-BE49-F238E27FC236}">
                <a16:creationId xmlns:a16="http://schemas.microsoft.com/office/drawing/2014/main" id="{9155C4E3-C036-4E07-8913-B85DFADDB3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82240" y="1"/>
            <a:ext cx="9509760" cy="790996"/>
          </a:xfrm>
          <a:prstGeom prst="rect">
            <a:avLst/>
          </a:prstGeom>
        </p:spPr>
        <p:txBody>
          <a:bodyPr anchor="ctr"/>
          <a:lstStyle>
            <a:lvl1pPr algn="r">
              <a:lnSpc>
                <a:spcPct val="100000"/>
              </a:lnSpc>
              <a:defRPr sz="35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10" name="Flowchart: Manual Input 9">
            <a:extLst>
              <a:ext uri="{FF2B5EF4-FFF2-40B4-BE49-F238E27FC236}">
                <a16:creationId xmlns:a16="http://schemas.microsoft.com/office/drawing/2014/main" id="{522A2AB7-6EED-4E91-B701-A9E6CC5DB5DB}"/>
              </a:ext>
            </a:extLst>
          </p:cNvPr>
          <p:cNvSpPr/>
          <p:nvPr userDrawn="1"/>
        </p:nvSpPr>
        <p:spPr>
          <a:xfrm rot="16200000">
            <a:off x="10312160" y="-878504"/>
            <a:ext cx="180000" cy="3600000"/>
          </a:xfrm>
          <a:prstGeom prst="flowChartManualInpu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4992525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91F61F55-4E2F-4266-957C-898F9AC3BE18}"/>
              </a:ext>
            </a:extLst>
          </p:cNvPr>
          <p:cNvGrpSpPr/>
          <p:nvPr userDrawn="1"/>
        </p:nvGrpSpPr>
        <p:grpSpPr>
          <a:xfrm>
            <a:off x="133350" y="0"/>
            <a:ext cx="2352675" cy="896683"/>
            <a:chOff x="133350" y="0"/>
            <a:chExt cx="2352675" cy="896683"/>
          </a:xfrm>
        </p:grpSpPr>
        <p:pic>
          <p:nvPicPr>
            <p:cNvPr id="8" name="Picture 7" descr="A yellow and red sign with a symbol and a star&#10;&#10;Description automatically generated">
              <a:extLst>
                <a:ext uri="{FF2B5EF4-FFF2-40B4-BE49-F238E27FC236}">
                  <a16:creationId xmlns:a16="http://schemas.microsoft.com/office/drawing/2014/main" id="{33D337E6-D7E4-4930-ACB8-3D886E276FB7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9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3350" y="70895"/>
              <a:ext cx="673616" cy="673616"/>
            </a:xfrm>
            <a:prstGeom prst="rect">
              <a:avLst/>
            </a:prstGeom>
          </p:spPr>
        </p:pic>
        <p:pic>
          <p:nvPicPr>
            <p:cNvPr id="9" name="Picture 8" descr="A red and black logo&#10;&#10;Description automatically generated">
              <a:extLst>
                <a:ext uri="{FF2B5EF4-FFF2-40B4-BE49-F238E27FC236}">
                  <a16:creationId xmlns:a16="http://schemas.microsoft.com/office/drawing/2014/main" id="{A073F522-383D-4F56-A89A-2AE55EE1288D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0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1921" y="0"/>
              <a:ext cx="1594104" cy="89668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4669725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8" r:id="rId3"/>
    <p:sldLayoutId id="2147483652" r:id="rId4"/>
    <p:sldLayoutId id="2147483657" r:id="rId5"/>
    <p:sldLayoutId id="2147483655" r:id="rId6"/>
    <p:sldLayoutId id="2147483659" r:id="rId7"/>
  </p:sldLayoutIdLst>
  <p:hf sldNum="0"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7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A103D4-39F5-443D-82CF-4401687001D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3552" y="958224"/>
            <a:ext cx="11304896" cy="2717800"/>
          </a:xfrm>
        </p:spPr>
        <p:txBody>
          <a:bodyPr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lang="en-US" sz="24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THIẾT KẾ VI MẠCH ỔN ÁP TUYẾN TÍNH LDO VỚI ĐÁP ỨNG DẢI TẢI RỘNG</a:t>
            </a:r>
            <a:br>
              <a:rPr lang="vi-VN" sz="24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TRÊN CÔNG NGHỆ CMOS 180</a:t>
            </a:r>
            <a:r>
              <a:rPr lang="en-US" sz="2400" b="1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r>
              <a:rPr lang="en-US" sz="24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endParaRPr lang="vi-VN" sz="2400" dirty="0">
              <a:effectLst/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EC976AD-0085-48DD-9203-7FE585A397C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D" dirty="0">
                <a:latin typeface="Times New Roman" panose="02020603050405020304" pitchFamily="18" charset="0"/>
                <a:cs typeface="Times New Roman" panose="02020603050405020304" pitchFamily="18" charset="0"/>
              </a:rPr>
              <a:t>LÊ MINH HIỂN</a:t>
            </a:r>
          </a:p>
          <a:p>
            <a:r>
              <a:rPr lang="en-ID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20/09/2026</a:t>
            </a:r>
          </a:p>
        </p:txBody>
      </p:sp>
    </p:spTree>
    <p:extLst>
      <p:ext uri="{BB962C8B-B14F-4D97-AF65-F5344CB8AC3E}">
        <p14:creationId xmlns:p14="http://schemas.microsoft.com/office/powerpoint/2010/main" val="19483836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CB3B539-E251-4AEE-A72A-893535E27A58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Mục tiêu thiết kế</a:t>
            </a:r>
            <a:endParaRPr lang="vi-VN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F846D1DA-3AFE-43F4-8E3C-0C699C64D6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Thiết kế mạch </a:t>
            </a:r>
            <a:r>
              <a:rPr lang="vi-VN" dirty="0">
                <a:latin typeface="Times New Roman" panose="02020603050405020304" pitchFamily="18" charset="0"/>
                <a:cs typeface="Times New Roman" panose="02020603050405020304" pitchFamily="18" charset="0"/>
              </a:rPr>
              <a:t>ổn áp tuyến tính LDO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843247D-93D9-4D9B-8859-C1CE0E47F8C5}"/>
              </a:ext>
            </a:extLst>
          </p:cNvPr>
          <p:cNvSpPr txBox="1"/>
          <p:nvPr/>
        </p:nvSpPr>
        <p:spPr>
          <a:xfrm>
            <a:off x="3592752" y="1486904"/>
            <a:ext cx="585234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Bảng 1. Mục tiêu thiết kế của mạch</a:t>
            </a:r>
            <a:r>
              <a:rPr lang="vi-V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LDO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B26209BF-0B23-4763-BFA5-64A7129DAF81}"/>
              </a:ext>
            </a:extLst>
          </p:cNvPr>
          <p:cNvSpPr/>
          <p:nvPr/>
        </p:nvSpPr>
        <p:spPr>
          <a:xfrm>
            <a:off x="12027350" y="831297"/>
            <a:ext cx="144000" cy="144000"/>
          </a:xfrm>
          <a:prstGeom prst="ellipse">
            <a:avLst/>
          </a:prstGeom>
          <a:solidFill>
            <a:srgbClr val="FFFF00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0E83C3C6-06F3-46BD-8509-99FB6E48EA52}"/>
              </a:ext>
            </a:extLst>
          </p:cNvPr>
          <p:cNvSpPr/>
          <p:nvPr/>
        </p:nvSpPr>
        <p:spPr>
          <a:xfrm>
            <a:off x="11813038" y="831297"/>
            <a:ext cx="144000" cy="144000"/>
          </a:xfrm>
          <a:prstGeom prst="ellipse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C6A1AD74-EDE3-43C9-996A-AF1A3C9A31B9}"/>
              </a:ext>
            </a:extLst>
          </p:cNvPr>
          <p:cNvSpPr/>
          <p:nvPr/>
        </p:nvSpPr>
        <p:spPr>
          <a:xfrm>
            <a:off x="11598726" y="831297"/>
            <a:ext cx="144000" cy="144000"/>
          </a:xfrm>
          <a:prstGeom prst="ellipse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7C81BECB-4CAC-43FF-96B1-C05ED3C54067}"/>
              </a:ext>
            </a:extLst>
          </p:cNvPr>
          <p:cNvSpPr/>
          <p:nvPr/>
        </p:nvSpPr>
        <p:spPr>
          <a:xfrm>
            <a:off x="11384414" y="831297"/>
            <a:ext cx="144000" cy="144000"/>
          </a:xfrm>
          <a:prstGeom prst="ellipse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693A99BD-9ACA-4F8A-8587-8EE8BBA9C60E}"/>
              </a:ext>
            </a:extLst>
          </p:cNvPr>
          <p:cNvSpPr/>
          <p:nvPr/>
        </p:nvSpPr>
        <p:spPr>
          <a:xfrm>
            <a:off x="11170102" y="831297"/>
            <a:ext cx="144000" cy="144000"/>
          </a:xfrm>
          <a:prstGeom prst="ellipse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16657FAE-A6FE-4578-A5E0-55AEC3FAB63E}"/>
              </a:ext>
            </a:extLst>
          </p:cNvPr>
          <p:cNvSpPr/>
          <p:nvPr/>
        </p:nvSpPr>
        <p:spPr>
          <a:xfrm>
            <a:off x="10955790" y="831297"/>
            <a:ext cx="144000" cy="144000"/>
          </a:xfrm>
          <a:prstGeom prst="ellipse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94BADE1F-EA78-439F-B2A6-123490093F6C}"/>
              </a:ext>
            </a:extLst>
          </p:cNvPr>
          <p:cNvSpPr/>
          <p:nvPr/>
        </p:nvSpPr>
        <p:spPr>
          <a:xfrm>
            <a:off x="10741478" y="834910"/>
            <a:ext cx="144000" cy="144000"/>
          </a:xfrm>
          <a:prstGeom prst="ellipse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2EB53124-0C56-4BF4-A3A7-DCC474C81B82}"/>
              </a:ext>
            </a:extLst>
          </p:cNvPr>
          <p:cNvSpPr/>
          <p:nvPr/>
        </p:nvSpPr>
        <p:spPr>
          <a:xfrm>
            <a:off x="10527166" y="831297"/>
            <a:ext cx="144000" cy="144000"/>
          </a:xfrm>
          <a:prstGeom prst="ellipse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2CC47919-110A-483D-BE27-85599E3C5564}"/>
              </a:ext>
            </a:extLst>
          </p:cNvPr>
          <p:cNvSpPr/>
          <p:nvPr/>
        </p:nvSpPr>
        <p:spPr>
          <a:xfrm>
            <a:off x="10312854" y="831297"/>
            <a:ext cx="144000" cy="144000"/>
          </a:xfrm>
          <a:prstGeom prst="ellipse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B108334F-E002-488A-95CC-F43AFA8A9CE6}"/>
              </a:ext>
            </a:extLst>
          </p:cNvPr>
          <p:cNvSpPr/>
          <p:nvPr/>
        </p:nvSpPr>
        <p:spPr>
          <a:xfrm>
            <a:off x="10098542" y="831297"/>
            <a:ext cx="144000" cy="144000"/>
          </a:xfrm>
          <a:prstGeom prst="ellipse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F5562327-7168-47A9-B253-C5C8F49C727E}"/>
              </a:ext>
            </a:extLst>
          </p:cNvPr>
          <p:cNvSpPr/>
          <p:nvPr/>
        </p:nvSpPr>
        <p:spPr>
          <a:xfrm>
            <a:off x="9890050" y="834910"/>
            <a:ext cx="144000" cy="144000"/>
          </a:xfrm>
          <a:prstGeom prst="ellipse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F8BE5B83-41AC-4D1A-BE35-B00A85A3AF8C}"/>
              </a:ext>
            </a:extLst>
          </p:cNvPr>
          <p:cNvSpPr/>
          <p:nvPr/>
        </p:nvSpPr>
        <p:spPr>
          <a:xfrm>
            <a:off x="9675738" y="834910"/>
            <a:ext cx="144000" cy="144000"/>
          </a:xfrm>
          <a:prstGeom prst="ellipse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06795CDD-ED8B-4327-877A-59EB5B691DC7}"/>
              </a:ext>
            </a:extLst>
          </p:cNvPr>
          <p:cNvSpPr/>
          <p:nvPr/>
        </p:nvSpPr>
        <p:spPr>
          <a:xfrm>
            <a:off x="9461426" y="834910"/>
            <a:ext cx="144000" cy="144000"/>
          </a:xfrm>
          <a:prstGeom prst="ellipse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graphicFrame>
        <p:nvGraphicFramePr>
          <p:cNvPr id="6" name="Table 8">
            <a:extLst>
              <a:ext uri="{FF2B5EF4-FFF2-40B4-BE49-F238E27FC236}">
                <a16:creationId xmlns:a16="http://schemas.microsoft.com/office/drawing/2014/main" id="{DDF329F5-6244-4701-A89F-A648B12E7D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08314164"/>
              </p:ext>
            </p:extLst>
          </p:nvPr>
        </p:nvGraphicFramePr>
        <p:xfrm>
          <a:off x="142240" y="1845301"/>
          <a:ext cx="11885110" cy="43467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725792">
                  <a:extLst>
                    <a:ext uri="{9D8B030D-6E8A-4147-A177-3AD203B41FA5}">
                      <a16:colId xmlns:a16="http://schemas.microsoft.com/office/drawing/2014/main" val="525934996"/>
                    </a:ext>
                  </a:extLst>
                </a:gridCol>
                <a:gridCol w="2028252">
                  <a:extLst>
                    <a:ext uri="{9D8B030D-6E8A-4147-A177-3AD203B41FA5}">
                      <a16:colId xmlns:a16="http://schemas.microsoft.com/office/drawing/2014/main" val="3127541105"/>
                    </a:ext>
                  </a:extLst>
                </a:gridCol>
                <a:gridCol w="2377022">
                  <a:extLst>
                    <a:ext uri="{9D8B030D-6E8A-4147-A177-3AD203B41FA5}">
                      <a16:colId xmlns:a16="http://schemas.microsoft.com/office/drawing/2014/main" val="434208549"/>
                    </a:ext>
                  </a:extLst>
                </a:gridCol>
                <a:gridCol w="2377022">
                  <a:extLst>
                    <a:ext uri="{9D8B030D-6E8A-4147-A177-3AD203B41FA5}">
                      <a16:colId xmlns:a16="http://schemas.microsoft.com/office/drawing/2014/main" val="4147038962"/>
                    </a:ext>
                  </a:extLst>
                </a:gridCol>
                <a:gridCol w="2377022">
                  <a:extLst>
                    <a:ext uri="{9D8B030D-6E8A-4147-A177-3AD203B41FA5}">
                      <a16:colId xmlns:a16="http://schemas.microsoft.com/office/drawing/2014/main" val="1912640426"/>
                    </a:ext>
                  </a:extLst>
                </a:gridCol>
              </a:tblGrid>
              <a:tr h="301411">
                <a:tc>
                  <a:txBody>
                    <a:bodyPr/>
                    <a:lstStyle/>
                    <a:p>
                      <a:pPr algn="ctr"/>
                      <a:r>
                        <a:rPr lang="vi-VN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Thông số</a:t>
                      </a:r>
                      <a:endParaRPr lang="en-US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Nhỏ nhất</a:t>
                      </a:r>
                      <a:endParaRPr lang="en-US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Cơ bản</a:t>
                      </a:r>
                      <a:endParaRPr lang="en-US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Lớn nhất</a:t>
                      </a:r>
                      <a:endParaRPr lang="en-US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Đơn vị</a:t>
                      </a:r>
                      <a:endParaRPr lang="en-US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71784816"/>
                  </a:ext>
                </a:extLst>
              </a:tr>
              <a:tr h="301411">
                <a:tc>
                  <a:txBody>
                    <a:bodyPr/>
                    <a:lstStyle/>
                    <a:p>
                      <a:pPr algn="ctr"/>
                      <a:r>
                        <a:rPr lang="vi-VN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Nguồn cấp</a:t>
                      </a:r>
                      <a:endParaRPr lang="en-US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1.8</a:t>
                      </a:r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2.2</a:t>
                      </a:r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</a:t>
                      </a:r>
                      <a:endParaRPr lang="en-US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14168607"/>
                  </a:ext>
                </a:extLst>
              </a:tr>
              <a:tr h="301411">
                <a:tc>
                  <a:txBody>
                    <a:bodyPr/>
                    <a:lstStyle/>
                    <a:p>
                      <a:pPr algn="ctr"/>
                      <a:r>
                        <a:rPr lang="vi-VN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Dòng tĩnh</a:t>
                      </a:r>
                      <a:endParaRPr lang="en-US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800" kern="12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≤ 400</a:t>
                      </a:r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800" b="1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µA</a:t>
                      </a:r>
                      <a:endParaRPr lang="en-US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42586950"/>
                  </a:ext>
                </a:extLst>
              </a:tr>
              <a:tr h="301411">
                <a:tc>
                  <a:txBody>
                    <a:bodyPr/>
                    <a:lstStyle/>
                    <a:p>
                      <a:pPr algn="ctr"/>
                      <a:r>
                        <a:rPr lang="vi-VN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Điện áp đầu ra</a:t>
                      </a:r>
                      <a:endParaRPr lang="en-US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1.188</a:t>
                      </a:r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1.2</a:t>
                      </a:r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1.212</a:t>
                      </a:r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</a:t>
                      </a:r>
                      <a:endParaRPr lang="en-US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77460640"/>
                  </a:ext>
                </a:extLst>
              </a:tr>
              <a:tr h="301411">
                <a:tc>
                  <a:txBody>
                    <a:bodyPr/>
                    <a:lstStyle/>
                    <a:p>
                      <a:pPr algn="ctr"/>
                      <a:r>
                        <a:rPr lang="vi-VN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Điện áp tham chiếu</a:t>
                      </a:r>
                      <a:endParaRPr lang="en-US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1.188</a:t>
                      </a:r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1.2</a:t>
                      </a:r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1.212</a:t>
                      </a:r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mV</a:t>
                      </a:r>
                      <a:endParaRPr lang="en-US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04488663"/>
                  </a:ext>
                </a:extLst>
              </a:tr>
              <a:tr h="301411">
                <a:tc>
                  <a:txBody>
                    <a:bodyPr/>
                    <a:lstStyle/>
                    <a:p>
                      <a:pPr algn="ctr"/>
                      <a:r>
                        <a:rPr lang="vi-VN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Độ sụt áp</a:t>
                      </a:r>
                      <a:endParaRPr lang="en-US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80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≤ </a:t>
                      </a:r>
                      <a:r>
                        <a:rPr lang="vi-V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0.5 </a:t>
                      </a:r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65369302"/>
                  </a:ext>
                </a:extLst>
              </a:tr>
              <a:tr h="301411">
                <a:tc>
                  <a:txBody>
                    <a:bodyPr/>
                    <a:lstStyle/>
                    <a:p>
                      <a:pPr algn="ctr"/>
                      <a:r>
                        <a:rPr lang="vi-VN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Độ lợi vòng lặp</a:t>
                      </a:r>
                      <a:endParaRPr lang="en-US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80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≥ 40</a:t>
                      </a:r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dB</a:t>
                      </a:r>
                      <a:endParaRPr lang="en-US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9808246"/>
                  </a:ext>
                </a:extLst>
              </a:tr>
              <a:tr h="301411">
                <a:tc>
                  <a:txBody>
                    <a:bodyPr/>
                    <a:lstStyle/>
                    <a:p>
                      <a:pPr algn="ctr"/>
                      <a:r>
                        <a:rPr lang="vi-VN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Pha tổng vòng lặp</a:t>
                      </a:r>
                      <a:endParaRPr lang="en-US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80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≥ 45</a:t>
                      </a:r>
                      <a:r>
                        <a:rPr lang="vi-VN" sz="1800" kern="1200" baseline="300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o</a:t>
                      </a:r>
                      <a:endParaRPr lang="en-US" baseline="30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87487797"/>
                  </a:ext>
                </a:extLst>
              </a:tr>
              <a:tr h="527470">
                <a:tc>
                  <a:txBody>
                    <a:bodyPr/>
                    <a:lstStyle/>
                    <a:p>
                      <a:pPr algn="ctr"/>
                      <a:r>
                        <a:rPr lang="vi-VN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Đáp ứng điều tiết nguồn</a:t>
                      </a:r>
                      <a:endParaRPr lang="en-US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80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≤ 0.05</a:t>
                      </a:r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98695579"/>
                  </a:ext>
                </a:extLst>
              </a:tr>
              <a:tr h="301411">
                <a:tc>
                  <a:txBody>
                    <a:bodyPr/>
                    <a:lstStyle/>
                    <a:p>
                      <a:pPr algn="ctr"/>
                      <a:r>
                        <a:rPr lang="vi-VN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Đáp ứng điều tiết tải</a:t>
                      </a:r>
                      <a:endParaRPr lang="en-US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80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≤ 0.05</a:t>
                      </a:r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93104054"/>
                  </a:ext>
                </a:extLst>
              </a:tr>
              <a:tr h="527470">
                <a:tc>
                  <a:txBody>
                    <a:bodyPr/>
                    <a:lstStyle/>
                    <a:p>
                      <a:pPr algn="ctr"/>
                      <a:r>
                        <a:rPr lang="vi-VN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Hệ số triệt nhiễu nguồn</a:t>
                      </a:r>
                      <a:endParaRPr lang="en-US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vi-VN" sz="180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≥ 30</a:t>
                      </a:r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dB</a:t>
                      </a:r>
                      <a:endParaRPr lang="en-US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970237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762437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ADD8A74-CE90-D081-2D6F-DFB17A48B4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Thiết kế mạch </a:t>
            </a:r>
            <a:r>
              <a:rPr lang="vi-VN" dirty="0">
                <a:latin typeface="Times New Roman" panose="02020603050405020304" pitchFamily="18" charset="0"/>
                <a:cs typeface="Times New Roman" panose="02020603050405020304" pitchFamily="18" charset="0"/>
              </a:rPr>
              <a:t>ổn áp tuyến tính LDO</a:t>
            </a:r>
            <a:endParaRPr lang="vi-V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8A90B6D-DC51-5E99-6C20-C4FCE63022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4503" y="1219201"/>
            <a:ext cx="4922993" cy="400090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51CB20C-CB99-13BF-24C1-7AAE43D57279}"/>
              </a:ext>
            </a:extLst>
          </p:cNvPr>
          <p:cNvSpPr txBox="1"/>
          <p:nvPr/>
        </p:nvSpPr>
        <p:spPr>
          <a:xfrm>
            <a:off x="3213639" y="5513469"/>
            <a:ext cx="576472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Hình 1. Sơ đồ nguyên lý mạch </a:t>
            </a:r>
            <a:r>
              <a:rPr lang="vi-V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tạo điện áp tham chiếu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5873406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382CD43-97C1-1605-A3D2-4DDF78B8D5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Thiết kế mạch </a:t>
            </a:r>
            <a:r>
              <a:rPr lang="vi-VN" dirty="0">
                <a:latin typeface="Times New Roman" panose="02020603050405020304" pitchFamily="18" charset="0"/>
                <a:cs typeface="Times New Roman" panose="02020603050405020304" pitchFamily="18" charset="0"/>
              </a:rPr>
              <a:t>ổn áp tuyến tính LDO</a:t>
            </a:r>
            <a:endParaRPr lang="vi-VN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DBD07CC-4FC6-AC31-8337-9EF37ADA7E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917" y="1239305"/>
            <a:ext cx="5730737" cy="162167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B159AF2-4E9E-149E-76E9-CA6AB1A5D2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917" y="3183132"/>
            <a:ext cx="5730737" cy="162777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ED446F2-B6C7-889A-8B18-B43B141E94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3251" y="1530828"/>
            <a:ext cx="5730737" cy="115834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315E5EB-7AE8-99BE-4CBE-5FD1D1C3DB3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23360" y="3339705"/>
            <a:ext cx="5590517" cy="1658256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9F9E35A-EFCB-3D98-79A5-1308970C4086}"/>
              </a:ext>
            </a:extLst>
          </p:cNvPr>
          <p:cNvSpPr txBox="1"/>
          <p:nvPr/>
        </p:nvSpPr>
        <p:spPr>
          <a:xfrm>
            <a:off x="1233835" y="5133055"/>
            <a:ext cx="97243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Hình 2. </a:t>
            </a:r>
            <a:r>
              <a:rPr lang="vi-V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Đồ thị điện áp đầu ra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và độ ổn định mạch </a:t>
            </a:r>
            <a:r>
              <a:rPr lang="vi-V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tạo điện áp tham chiếu khi mô phỏng PVT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1624702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EC45629-4A4F-F7A4-8D58-E240A28D72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Thiết kế mạch </a:t>
            </a:r>
            <a:r>
              <a:rPr lang="vi-VN" dirty="0">
                <a:latin typeface="Times New Roman" panose="02020603050405020304" pitchFamily="18" charset="0"/>
                <a:cs typeface="Times New Roman" panose="02020603050405020304" pitchFamily="18" charset="0"/>
              </a:rPr>
              <a:t>ổn áp tuyến tính LDO</a:t>
            </a:r>
            <a:endParaRPr lang="vi-VN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0C01698-A0BA-2501-ED3B-6CDB797E54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0902" y="1340939"/>
            <a:ext cx="10370195" cy="417612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5D2AFA7-2ABB-6E71-FC77-32120FFE4A5B}"/>
              </a:ext>
            </a:extLst>
          </p:cNvPr>
          <p:cNvSpPr txBox="1"/>
          <p:nvPr/>
        </p:nvSpPr>
        <p:spPr>
          <a:xfrm>
            <a:off x="2984410" y="5517061"/>
            <a:ext cx="622317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Hình </a:t>
            </a:r>
            <a:r>
              <a:rPr lang="vi-V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Sơ đồ khối tổng quát mạch </a:t>
            </a:r>
            <a:r>
              <a:rPr lang="vi-V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ổn áp tuyến tính LDO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29418418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74D80AD-4E08-4083-6E00-D6D4C40E5E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Thiết kế mạch </a:t>
            </a:r>
            <a:r>
              <a:rPr lang="vi-VN" dirty="0">
                <a:latin typeface="Times New Roman" panose="02020603050405020304" pitchFamily="18" charset="0"/>
                <a:cs typeface="Times New Roman" panose="02020603050405020304" pitchFamily="18" charset="0"/>
              </a:rPr>
              <a:t>ổn áp tuyến tính LDO</a:t>
            </a:r>
            <a:endParaRPr lang="vi-V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5D2E5CC-5BFE-067C-B9E6-FEDAF1CB5C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5177" y="1044012"/>
            <a:ext cx="6401645" cy="476997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CEAEEAB-FA0D-1B6D-AEB0-B23F5F064257}"/>
              </a:ext>
            </a:extLst>
          </p:cNvPr>
          <p:cNvSpPr txBox="1"/>
          <p:nvPr/>
        </p:nvSpPr>
        <p:spPr>
          <a:xfrm>
            <a:off x="3284973" y="5117110"/>
            <a:ext cx="51155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Hình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Sơ đồ khối tổng quát mạch bảo vệ quá dòng. </a:t>
            </a:r>
          </a:p>
        </p:txBody>
      </p:sp>
    </p:spTree>
    <p:extLst>
      <p:ext uri="{BB962C8B-B14F-4D97-AF65-F5344CB8AC3E}">
        <p14:creationId xmlns:p14="http://schemas.microsoft.com/office/powerpoint/2010/main" val="42374248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17A1E37-C30F-8301-A530-C524FD8A14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Thiết kế mạch </a:t>
            </a:r>
            <a:r>
              <a:rPr lang="vi-VN" dirty="0">
                <a:latin typeface="Times New Roman" panose="02020603050405020304" pitchFamily="18" charset="0"/>
                <a:cs typeface="Times New Roman" panose="02020603050405020304" pitchFamily="18" charset="0"/>
              </a:rPr>
              <a:t>ổn áp tuyến tính LDO</a:t>
            </a:r>
            <a:endParaRPr lang="vi-V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32C8561-BA35-69DD-6E3D-4210AE9B83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7083" y="2205084"/>
            <a:ext cx="8617833" cy="244783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91344A4-5A60-84AE-B794-0874A6B4730C}"/>
              </a:ext>
            </a:extLst>
          </p:cNvPr>
          <p:cNvSpPr txBox="1"/>
          <p:nvPr/>
        </p:nvSpPr>
        <p:spPr>
          <a:xfrm>
            <a:off x="1787083" y="4843417"/>
            <a:ext cx="866134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Hình 5. </a:t>
            </a:r>
            <a:r>
              <a:rPr lang="vi-V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Đồ thị điện áp đầu ra của mạch ổn áp tuyến tính LDO ở điều kiện thường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1590779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C3BCB44-74AF-A9CE-14D1-0255C22D33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vi-V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04FAF85-F591-436F-8B36-E6988414D9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2223" y="2206646"/>
            <a:ext cx="8687553" cy="244470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87FA2F0-7F9C-F1F5-342E-0211BBF907DF}"/>
              </a:ext>
            </a:extLst>
          </p:cNvPr>
          <p:cNvSpPr txBox="1"/>
          <p:nvPr/>
        </p:nvSpPr>
        <p:spPr>
          <a:xfrm>
            <a:off x="2447404" y="4846320"/>
            <a:ext cx="729719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Hình 6. </a:t>
            </a:r>
            <a:r>
              <a:rPr lang="vi-V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Đồ thị mô phỏng độ sụt áp của mạch ổn áp tuyến tính LDO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759849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405C68F-1DBB-AB1D-5A3C-CCC598A5D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Thiết kế mạch </a:t>
            </a:r>
            <a:r>
              <a:rPr lang="vi-VN" dirty="0">
                <a:latin typeface="Times New Roman" panose="02020603050405020304" pitchFamily="18" charset="0"/>
                <a:cs typeface="Times New Roman" panose="02020603050405020304" pitchFamily="18" charset="0"/>
              </a:rPr>
              <a:t>ổn áp tuyến tính LDO</a:t>
            </a:r>
            <a:endParaRPr lang="vi-VN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77EC8A1-F7D1-DA07-5196-78CB14E2D3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9175" y="2194453"/>
            <a:ext cx="8693649" cy="246909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26BB523-DE8E-A29E-BFF0-64414322A575}"/>
              </a:ext>
            </a:extLst>
          </p:cNvPr>
          <p:cNvSpPr txBox="1"/>
          <p:nvPr/>
        </p:nvSpPr>
        <p:spPr>
          <a:xfrm>
            <a:off x="944524" y="4816566"/>
            <a:ext cx="996458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Hình 7. </a:t>
            </a:r>
            <a:r>
              <a:rPr lang="vi-V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Đồ thị độ lợi vòng lặp và pha tổng của mạch ổn áp tuyến tính LDO ở điều kiện thường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5197119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AAE24D7-A209-3402-8473-7BD9A009AE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Thiết kế mạch </a:t>
            </a:r>
            <a:r>
              <a:rPr lang="vi-VN" dirty="0">
                <a:latin typeface="Times New Roman" panose="02020603050405020304" pitchFamily="18" charset="0"/>
                <a:cs typeface="Times New Roman" panose="02020603050405020304" pitchFamily="18" charset="0"/>
              </a:rPr>
              <a:t>ổn áp tuyến tính LDO</a:t>
            </a:r>
            <a:endParaRPr lang="vi-V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1179FA9-12B1-CDFE-9849-6617BF644D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9175" y="2194453"/>
            <a:ext cx="8693649" cy="246909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06C9717-40C6-4D5E-BE69-8BAFEB8F1A39}"/>
              </a:ext>
            </a:extLst>
          </p:cNvPr>
          <p:cNvSpPr txBox="1"/>
          <p:nvPr/>
        </p:nvSpPr>
        <p:spPr>
          <a:xfrm>
            <a:off x="1031952" y="4823097"/>
            <a:ext cx="1012809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Hình 8. </a:t>
            </a:r>
            <a:r>
              <a:rPr lang="vi-V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Đồ thị hệ số triệt nhiễu nguồn PSRR của mạch ổn áp tuyến tính LDO ở điều kiện thường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64356237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970D470-D204-E559-D9AE-FE187D2C72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Thiết kế mạch </a:t>
            </a:r>
            <a:r>
              <a:rPr lang="vi-VN" dirty="0">
                <a:latin typeface="Times New Roman" panose="02020603050405020304" pitchFamily="18" charset="0"/>
                <a:cs typeface="Times New Roman" panose="02020603050405020304" pitchFamily="18" charset="0"/>
              </a:rPr>
              <a:t>ổn áp tuyến tính LDO</a:t>
            </a:r>
            <a:endParaRPr lang="vi-V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CCE1669-4BFA-E217-CB62-0EE5E90833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0403" y="2194453"/>
            <a:ext cx="8791194" cy="246909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E412BCE-F686-A37C-535B-7D3C11A5A0A5}"/>
              </a:ext>
            </a:extLst>
          </p:cNvPr>
          <p:cNvSpPr txBox="1"/>
          <p:nvPr/>
        </p:nvSpPr>
        <p:spPr>
          <a:xfrm>
            <a:off x="1887957" y="4862286"/>
            <a:ext cx="841608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Hình 9. </a:t>
            </a:r>
            <a:r>
              <a:rPr lang="vi-V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Đồ thị mô phỏng đáp ứng điều tiết tải của mạch ổn áp tuyến tính LDO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875522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7392C48-3ED6-44E5-E263-D451E7B393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Thiết kế mạch </a:t>
            </a:r>
            <a:r>
              <a:rPr lang="vi-VN" dirty="0">
                <a:latin typeface="Times New Roman" panose="02020603050405020304" pitchFamily="18" charset="0"/>
                <a:cs typeface="Times New Roman" panose="02020603050405020304" pitchFamily="18" charset="0"/>
              </a:rPr>
              <a:t>ổn áp tuyến tính LDO</a:t>
            </a:r>
            <a:endParaRPr lang="vi-V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D7DCA22-6B56-79B0-A756-FC1E883239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580" y="1389425"/>
            <a:ext cx="5584420" cy="199966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EB54749-8190-757C-B723-FB3A601A28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580" y="4334621"/>
            <a:ext cx="5730737" cy="113395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CB52EB2-55F6-3A7D-6B21-7B209A7260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48796" y="2701147"/>
            <a:ext cx="5730737" cy="128636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2CA3A86-5F0D-EE9E-4155-CBF786041A97}"/>
              </a:ext>
            </a:extLst>
          </p:cNvPr>
          <p:cNvSpPr txBox="1"/>
          <p:nvPr/>
        </p:nvSpPr>
        <p:spPr>
          <a:xfrm>
            <a:off x="609687" y="3468915"/>
            <a:ext cx="5388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Hình 10. </a:t>
            </a:r>
            <a:r>
              <a:rPr lang="vi-V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Kết quả mô phỏng PVT mạch tổng LDO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7B22570-6911-AEED-7F1B-7C38ADCE148B}"/>
              </a:ext>
            </a:extLst>
          </p:cNvPr>
          <p:cNvSpPr txBox="1"/>
          <p:nvPr/>
        </p:nvSpPr>
        <p:spPr>
          <a:xfrm>
            <a:off x="511580" y="5497554"/>
            <a:ext cx="58306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Hình </a:t>
            </a:r>
            <a:r>
              <a:rPr lang="vi-V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12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vi-V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Đáp ứng điều tiết nguồn theo mô phỏng PVT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293AB29-D2DF-CBBE-003F-108754BCDEF3}"/>
              </a:ext>
            </a:extLst>
          </p:cNvPr>
          <p:cNvSpPr txBox="1"/>
          <p:nvPr/>
        </p:nvSpPr>
        <p:spPr>
          <a:xfrm>
            <a:off x="6620249" y="4134566"/>
            <a:ext cx="544431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Hình 11. </a:t>
            </a:r>
            <a:r>
              <a:rPr lang="vi-V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Đáp ứng điều tiết tải theo mô phỏng PVT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892659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E2288B8-24D6-1111-0078-A38F33AA3F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Thiết kế mạch </a:t>
            </a:r>
            <a:r>
              <a:rPr lang="vi-VN" dirty="0">
                <a:latin typeface="Times New Roman" panose="02020603050405020304" pitchFamily="18" charset="0"/>
                <a:cs typeface="Times New Roman" panose="02020603050405020304" pitchFamily="18" charset="0"/>
              </a:rPr>
              <a:t>ổn áp tuyến tính LDO</a:t>
            </a:r>
            <a:endParaRPr lang="vi-VN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F49992E-850E-C5AF-186B-6DF1A8CE81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141" y="1816745"/>
            <a:ext cx="11485718" cy="322450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94CCE26-B3F5-6411-F785-E3DB281711DB}"/>
              </a:ext>
            </a:extLst>
          </p:cNvPr>
          <p:cNvSpPr txBox="1"/>
          <p:nvPr/>
        </p:nvSpPr>
        <p:spPr>
          <a:xfrm>
            <a:off x="4102505" y="5239659"/>
            <a:ext cx="41152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Hình 13. </a:t>
            </a:r>
            <a:r>
              <a:rPr lang="vi-V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Đánh giá MC điện áp đầu ra </a:t>
            </a:r>
          </a:p>
        </p:txBody>
      </p:sp>
    </p:spTree>
    <p:extLst>
      <p:ext uri="{BB962C8B-B14F-4D97-AF65-F5344CB8AC3E}">
        <p14:creationId xmlns:p14="http://schemas.microsoft.com/office/powerpoint/2010/main" val="3137086708"/>
      </p:ext>
    </p:extLst>
  </p:cSld>
  <p:clrMapOvr>
    <a:masterClrMapping/>
  </p:clrMapOvr>
</p:sld>
</file>

<file path=ppt/theme/theme1.xml><?xml version="1.0" encoding="utf-8"?>
<a:theme xmlns:a="http://schemas.openxmlformats.org/drawingml/2006/main" name="Vienamese Template">
  <a:themeElements>
    <a:clrScheme name="Custom 1">
      <a:dk1>
        <a:srgbClr val="222A35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11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329</TotalTime>
  <Words>426</Words>
  <Application>Microsoft Office PowerPoint</Application>
  <PresentationFormat>Widescreen</PresentationFormat>
  <Paragraphs>66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Arial</vt:lpstr>
      <vt:lpstr>Calibri</vt:lpstr>
      <vt:lpstr>Times New Roman</vt:lpstr>
      <vt:lpstr>Wingdings</vt:lpstr>
      <vt:lpstr>Vienamese Template</vt:lpstr>
      <vt:lpstr>THIẾT KẾ VI MẠCH ỔN ÁP TUYẾN TÍNH LDO VỚI ĐÁP ỨNG DẢI TẢI RỘNG TRÊN CÔNG NGHỆ CMOS 180NM</vt:lpstr>
      <vt:lpstr>Thiết kế mạch ổn áp tuyến tính LDO</vt:lpstr>
      <vt:lpstr>Thiết kế mạch ổn áp tuyến tính LDO</vt:lpstr>
      <vt:lpstr>Thiết kế mạch ổn áp tuyến tính LDO</vt:lpstr>
      <vt:lpstr>Thiết kế mạch ổn áp tuyến tính LDO</vt:lpstr>
      <vt:lpstr>Thiết kế mạch ổn áp tuyến tính LDO</vt:lpstr>
      <vt:lpstr>Thiết kế mạch ổn áp tuyến tính LDO</vt:lpstr>
      <vt:lpstr>PowerPoint Presentation</vt:lpstr>
      <vt:lpstr>Thiết kế mạch ổn áp tuyến tính LDO</vt:lpstr>
      <vt:lpstr>Thiết kế mạch ổn áp tuyến tính LDO</vt:lpstr>
      <vt:lpstr>Thiết kế mạch ổn áp tuyến tính LDO</vt:lpstr>
      <vt:lpstr>Thiết kế mạch ổn áp tuyến tính LDO</vt:lpstr>
      <vt:lpstr>Thiết kế mạch ổn áp tuyến tính LDO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Huy Hoàng</dc:creator>
  <cp:lastModifiedBy>leminhhien2023604193@gmail.com</cp:lastModifiedBy>
  <cp:revision>106</cp:revision>
  <dcterms:created xsi:type="dcterms:W3CDTF">2023-12-15T13:18:10Z</dcterms:created>
  <dcterms:modified xsi:type="dcterms:W3CDTF">2026-09-25T02:40:59Z</dcterms:modified>
</cp:coreProperties>
</file>