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10" r:id="rId3"/>
    <p:sldId id="312" r:id="rId4"/>
    <p:sldId id="296" r:id="rId5"/>
    <p:sldId id="309" r:id="rId6"/>
    <p:sldId id="298" r:id="rId7"/>
    <p:sldId id="301" r:id="rId8"/>
    <p:sldId id="311" r:id="rId9"/>
    <p:sldId id="302" r:id="rId10"/>
    <p:sldId id="303" r:id="rId11"/>
    <p:sldId id="304" r:id="rId12"/>
    <p:sldId id="305" r:id="rId13"/>
    <p:sldId id="306" r:id="rId14"/>
    <p:sldId id="307" r:id="rId15"/>
    <p:sldId id="3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1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EFED6-7DA9-4FE5-A397-80A8712ACE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9AAA0-57D9-4D63-AB1B-661BE4097B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AB8DD-EB46-4ADC-8F1B-C827D945DA2A}" type="datetimeFigureOut">
              <a:rPr lang="en-ID" smtClean="0"/>
              <a:t>22/09/2026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E7A56-284C-4802-8081-8833D4C1EE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DB4DA-E274-407D-8A40-BD8382D504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BE6CC-7FF4-47A3-AF8B-C3C5A7CD63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9967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A45B8-9AAE-47BC-A3A1-495EA90DB835}" type="datetimeFigureOut">
              <a:rPr lang="en-ID" smtClean="0"/>
              <a:t>22/09/2026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93B51-2076-45D4-9A02-15D0718AB1D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8384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533A-1EE4-43DC-972C-E2879308C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9800"/>
            <a:ext cx="9144000" cy="2717800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6C3D7-4C7D-4A4D-A172-F39A41895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7438"/>
            <a:ext cx="9144000" cy="200060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0350B2-29AE-4140-A1E5-8A1962698F4B}"/>
              </a:ext>
            </a:extLst>
          </p:cNvPr>
          <p:cNvCxnSpPr>
            <a:cxnSpLocks/>
          </p:cNvCxnSpPr>
          <p:nvPr userDrawn="1"/>
        </p:nvCxnSpPr>
        <p:spPr>
          <a:xfrm>
            <a:off x="883920" y="3788058"/>
            <a:ext cx="1044448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61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CBF5-B3C1-4BDF-A76E-DDA5BBE3F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2240" y="1"/>
            <a:ext cx="9509760" cy="831496"/>
          </a:xfrm>
          <a:prstGeom prst="rect">
            <a:avLst/>
          </a:prstGeo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Outline</a:t>
            </a:r>
            <a:endParaRPr lang="en-ID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E964B2-7086-4703-8F10-748D7F6732D2}"/>
              </a:ext>
            </a:extLst>
          </p:cNvPr>
          <p:cNvCxnSpPr>
            <a:cxnSpLocks/>
          </p:cNvCxnSpPr>
          <p:nvPr userDrawn="1"/>
        </p:nvCxnSpPr>
        <p:spPr>
          <a:xfrm>
            <a:off x="0" y="831498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50A1D4D-465B-49A1-BFE3-8143DE6E30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831497"/>
            <a:ext cx="12192000" cy="5447379"/>
          </a:xfrm>
          <a:prstGeom prst="rect">
            <a:avLst/>
          </a:prstGeom>
        </p:spPr>
        <p:txBody>
          <a:bodyPr anchor="ctr"/>
          <a:lstStyle>
            <a:lvl1pPr marL="720725" indent="-720725">
              <a:lnSpc>
                <a:spcPct val="120000"/>
              </a:lnSpc>
              <a:buFont typeface="Wingdings" panose="05000000000000000000" pitchFamily="2" charset="2"/>
              <a:buChar char="q"/>
              <a:defRPr sz="4000">
                <a:latin typeface="+mj-lt"/>
              </a:defRPr>
            </a:lvl1pPr>
          </a:lstStyle>
          <a:p>
            <a:pPr lvl="0"/>
            <a:r>
              <a:rPr lang="fr-FR"/>
              <a:t>Content 1</a:t>
            </a:r>
          </a:p>
          <a:p>
            <a:pPr lvl="0"/>
            <a:r>
              <a:rPr lang="fr-FR"/>
              <a:t>Content 2</a:t>
            </a:r>
          </a:p>
          <a:p>
            <a:pPr lvl="0"/>
            <a:r>
              <a:rPr lang="fr-FR"/>
              <a:t>Content 3</a:t>
            </a:r>
          </a:p>
          <a:p>
            <a:pPr lvl="0"/>
            <a:r>
              <a:rPr lang="fr-FR"/>
              <a:t>Content 4</a:t>
            </a:r>
          </a:p>
          <a:p>
            <a:pPr lvl="0"/>
            <a:r>
              <a:rPr lang="fr-FR"/>
              <a:t>Content 5</a:t>
            </a:r>
          </a:p>
          <a:p>
            <a:pPr lvl="0"/>
            <a:r>
              <a:rPr lang="fr-FR"/>
              <a:t>Content 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C154EF-4CA5-42A1-BDDD-309EB1D8FC0B}"/>
              </a:ext>
            </a:extLst>
          </p:cNvPr>
          <p:cNvCxnSpPr>
            <a:cxnSpLocks/>
          </p:cNvCxnSpPr>
          <p:nvPr userDrawn="1"/>
        </p:nvCxnSpPr>
        <p:spPr>
          <a:xfrm>
            <a:off x="0" y="6278880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475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F5D17-0995-4F0A-8464-143FE313431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648382"/>
            <a:ext cx="12192000" cy="520961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55600" indent="-355600">
              <a:lnSpc>
                <a:spcPct val="120000"/>
              </a:lnSpc>
              <a:buFont typeface="Wingdings" panose="05000000000000000000" pitchFamily="2" charset="2"/>
              <a:buChar char="§"/>
              <a:defRPr sz="2800"/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DCBF5-B3C1-4BDF-A76E-DDA5BBE3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1"/>
            <a:ext cx="9509760" cy="831496"/>
          </a:xfrm>
          <a:prstGeom prst="rect">
            <a:avLst/>
          </a:prstGeo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E964B2-7086-4703-8F10-748D7F6732D2}"/>
              </a:ext>
            </a:extLst>
          </p:cNvPr>
          <p:cNvCxnSpPr>
            <a:cxnSpLocks/>
          </p:cNvCxnSpPr>
          <p:nvPr userDrawn="1"/>
        </p:nvCxnSpPr>
        <p:spPr>
          <a:xfrm>
            <a:off x="0" y="831498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D42E61-3AFB-4BB2-8DC7-F251032310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39799"/>
            <a:ext cx="12192000" cy="707877"/>
          </a:xfrm>
          <a:prstGeom prst="rect">
            <a:avLst/>
          </a:prstGeom>
        </p:spPr>
        <p:txBody>
          <a:bodyPr/>
          <a:lstStyle>
            <a:lvl1pPr marL="720725" indent="-720725">
              <a:lnSpc>
                <a:spcPct val="100000"/>
              </a:lnSpc>
              <a:buFont typeface="Wingdings" panose="05000000000000000000" pitchFamily="2" charset="2"/>
              <a:buChar char="q"/>
              <a:defRPr sz="4000">
                <a:latin typeface="+mj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58DEBA-3BF9-45F1-BDFB-F4E509E8113B}"/>
              </a:ext>
            </a:extLst>
          </p:cNvPr>
          <p:cNvCxnSpPr>
            <a:cxnSpLocks/>
          </p:cNvCxnSpPr>
          <p:nvPr userDrawn="1"/>
        </p:nvCxnSpPr>
        <p:spPr>
          <a:xfrm>
            <a:off x="0" y="6291580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27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B4E9F-C391-4881-819D-68A0ECD913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0" y="1648382"/>
            <a:ext cx="6019800" cy="5209618"/>
          </a:xfrm>
          <a:prstGeom prst="rect">
            <a:avLst/>
          </a:prstGeom>
        </p:spPr>
        <p:txBody>
          <a:bodyPr/>
          <a:lstStyle>
            <a:lvl1pPr marL="355600" indent="-35560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1F542-6B23-4D0B-8DA9-28771F394D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2" y="1648382"/>
            <a:ext cx="6019800" cy="5209618"/>
          </a:xfrm>
          <a:prstGeom prst="rect">
            <a:avLst/>
          </a:prstGeom>
        </p:spPr>
        <p:txBody>
          <a:bodyPr/>
          <a:lstStyle>
            <a:lvl1pPr marL="355600" indent="-35560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Second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0D3C44-D9B8-4250-82ED-DC47865C2DFE}"/>
              </a:ext>
            </a:extLst>
          </p:cNvPr>
          <p:cNvCxnSpPr>
            <a:cxnSpLocks/>
          </p:cNvCxnSpPr>
          <p:nvPr userDrawn="1"/>
        </p:nvCxnSpPr>
        <p:spPr>
          <a:xfrm>
            <a:off x="0" y="831498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1B438F7-195C-4DA4-A913-ECC58BAE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1"/>
            <a:ext cx="9509760" cy="831496"/>
          </a:xfrm>
          <a:prstGeom prst="rect">
            <a:avLst/>
          </a:prstGeo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DC6AF-516F-4CD4-B516-3A52FBE750B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48382"/>
            <a:ext cx="0" cy="4473018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D79122-7A98-4843-929C-1842A1CFBA16}"/>
              </a:ext>
            </a:extLst>
          </p:cNvPr>
          <p:cNvCxnSpPr>
            <a:cxnSpLocks/>
          </p:cNvCxnSpPr>
          <p:nvPr userDrawn="1"/>
        </p:nvCxnSpPr>
        <p:spPr>
          <a:xfrm>
            <a:off x="0" y="6291580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E5EE2EFC-3912-4FD4-BA26-9682FA9EF00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39799"/>
            <a:ext cx="12192000" cy="707877"/>
          </a:xfrm>
          <a:prstGeom prst="rect">
            <a:avLst/>
          </a:prstGeom>
        </p:spPr>
        <p:txBody>
          <a:bodyPr/>
          <a:lstStyle>
            <a:lvl1pPr marL="720725" indent="-720725">
              <a:lnSpc>
                <a:spcPct val="100000"/>
              </a:lnSpc>
              <a:buFont typeface="Wingdings" panose="05000000000000000000" pitchFamily="2" charset="2"/>
              <a:buChar char="q"/>
              <a:defRPr sz="4000">
                <a:latin typeface="+mj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352308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98CCC-CC83-4AB6-BF8C-222162834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86500" y="1755976"/>
            <a:ext cx="5905499" cy="45355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D4766-E182-4EA6-8FE9-089C8A921A4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1647677"/>
            <a:ext cx="5905499" cy="4643902"/>
          </a:xfrm>
          <a:prstGeom prst="rect">
            <a:avLst/>
          </a:prstGeom>
        </p:spPr>
        <p:txBody>
          <a:bodyPr/>
          <a:lstStyle>
            <a:lvl1pPr marL="355600" indent="-35560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Second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9F551B-A8BB-4B00-8F41-AFFC5DE46961}"/>
              </a:ext>
            </a:extLst>
          </p:cNvPr>
          <p:cNvCxnSpPr>
            <a:cxnSpLocks/>
          </p:cNvCxnSpPr>
          <p:nvPr userDrawn="1"/>
        </p:nvCxnSpPr>
        <p:spPr>
          <a:xfrm>
            <a:off x="0" y="831498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E576B16-ED5D-4704-95BE-A04D7A6D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1"/>
            <a:ext cx="9509760" cy="831496"/>
          </a:xfrm>
          <a:prstGeom prst="rect">
            <a:avLst/>
          </a:prstGeo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BE3877-4B4E-4996-8A37-2205B63BCDA7}"/>
              </a:ext>
            </a:extLst>
          </p:cNvPr>
          <p:cNvCxnSpPr>
            <a:cxnSpLocks/>
          </p:cNvCxnSpPr>
          <p:nvPr userDrawn="1"/>
        </p:nvCxnSpPr>
        <p:spPr>
          <a:xfrm>
            <a:off x="0" y="6291580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47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05BF4F-F316-43B2-A90C-6A3C06960FBE}"/>
              </a:ext>
            </a:extLst>
          </p:cNvPr>
          <p:cNvCxnSpPr>
            <a:cxnSpLocks/>
          </p:cNvCxnSpPr>
          <p:nvPr userDrawn="1"/>
        </p:nvCxnSpPr>
        <p:spPr>
          <a:xfrm>
            <a:off x="0" y="831498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5BD83237-FF62-4B41-8146-D7D32FF3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1"/>
            <a:ext cx="9509760" cy="831496"/>
          </a:xfrm>
          <a:prstGeom prst="rect">
            <a:avLst/>
          </a:prstGeo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C2BCE6-624D-42F4-8065-5F79F7506ABB}"/>
              </a:ext>
            </a:extLst>
          </p:cNvPr>
          <p:cNvCxnSpPr>
            <a:cxnSpLocks/>
          </p:cNvCxnSpPr>
          <p:nvPr userDrawn="1"/>
        </p:nvCxnSpPr>
        <p:spPr>
          <a:xfrm>
            <a:off x="0" y="6291580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1C602838-CE0C-4629-A6A0-530F7D243D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39799"/>
            <a:ext cx="12192000" cy="707877"/>
          </a:xfrm>
          <a:prstGeom prst="rect">
            <a:avLst/>
          </a:prstGeom>
        </p:spPr>
        <p:txBody>
          <a:bodyPr/>
          <a:lstStyle>
            <a:lvl1pPr marL="720725" indent="-720725">
              <a:lnSpc>
                <a:spcPct val="100000"/>
              </a:lnSpc>
              <a:buFont typeface="Wingdings" panose="05000000000000000000" pitchFamily="2" charset="2"/>
              <a:buChar char="q"/>
              <a:defRPr sz="4000">
                <a:latin typeface="+mj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44314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E964B2-7086-4703-8F10-748D7F6732D2}"/>
              </a:ext>
            </a:extLst>
          </p:cNvPr>
          <p:cNvCxnSpPr>
            <a:cxnSpLocks/>
          </p:cNvCxnSpPr>
          <p:nvPr userDrawn="1"/>
        </p:nvCxnSpPr>
        <p:spPr>
          <a:xfrm>
            <a:off x="0" y="831498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D42E61-3AFB-4BB2-8DC7-F251032310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007675"/>
            <a:ext cx="12192000" cy="707877"/>
          </a:xfrm>
          <a:prstGeom prst="rect">
            <a:avLst/>
          </a:prstGeom>
        </p:spPr>
        <p:txBody>
          <a:bodyPr/>
          <a:lstStyle>
            <a:lvl1pPr marL="720725" indent="-720725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 sz="35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199F77-6A56-4EF6-B23A-69BBB05846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1876817"/>
            <a:ext cx="12192000" cy="4414762"/>
          </a:xfrm>
          <a:prstGeom prst="rect">
            <a:avLst/>
          </a:prstGeom>
        </p:spPr>
        <p:txBody>
          <a:bodyPr/>
          <a:lstStyle>
            <a:lvl1pPr marL="355600" indent="-3556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6DA63-DE21-40E4-876D-74B8E2E45A7E}"/>
              </a:ext>
            </a:extLst>
          </p:cNvPr>
          <p:cNvCxnSpPr>
            <a:cxnSpLocks/>
          </p:cNvCxnSpPr>
          <p:nvPr userDrawn="1"/>
        </p:nvCxnSpPr>
        <p:spPr>
          <a:xfrm>
            <a:off x="0" y="6319375"/>
            <a:ext cx="12192000" cy="0"/>
          </a:xfrm>
          <a:prstGeom prst="lin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9155C4E3-C036-4E07-8913-B85DFADD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1"/>
            <a:ext cx="9509760" cy="790996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Flowchart: Manual Input 9">
            <a:extLst>
              <a:ext uri="{FF2B5EF4-FFF2-40B4-BE49-F238E27FC236}">
                <a16:creationId xmlns:a16="http://schemas.microsoft.com/office/drawing/2014/main" id="{522A2AB7-6EED-4E91-B701-A9E6CC5DB5DB}"/>
              </a:ext>
            </a:extLst>
          </p:cNvPr>
          <p:cNvSpPr/>
          <p:nvPr userDrawn="1"/>
        </p:nvSpPr>
        <p:spPr>
          <a:xfrm rot="16200000">
            <a:off x="10312160" y="-878504"/>
            <a:ext cx="180000" cy="3600000"/>
          </a:xfrm>
          <a:prstGeom prst="flowChartManualInpu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925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1F61F55-4E2F-4266-957C-898F9AC3BE18}"/>
              </a:ext>
            </a:extLst>
          </p:cNvPr>
          <p:cNvGrpSpPr/>
          <p:nvPr userDrawn="1"/>
        </p:nvGrpSpPr>
        <p:grpSpPr>
          <a:xfrm>
            <a:off x="133350" y="0"/>
            <a:ext cx="2352675" cy="896683"/>
            <a:chOff x="133350" y="0"/>
            <a:chExt cx="2352675" cy="896683"/>
          </a:xfrm>
        </p:grpSpPr>
        <p:pic>
          <p:nvPicPr>
            <p:cNvPr id="8" name="Picture 7" descr="A yellow and red sign with a symbol and a star&#10;&#10;Description automatically generated">
              <a:extLst>
                <a:ext uri="{FF2B5EF4-FFF2-40B4-BE49-F238E27FC236}">
                  <a16:creationId xmlns:a16="http://schemas.microsoft.com/office/drawing/2014/main" id="{33D337E6-D7E4-4930-ACB8-3D886E276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350" y="70895"/>
              <a:ext cx="673616" cy="673616"/>
            </a:xfrm>
            <a:prstGeom prst="rect">
              <a:avLst/>
            </a:prstGeom>
          </p:spPr>
        </p:pic>
        <p:pic>
          <p:nvPicPr>
            <p:cNvPr id="9" name="Picture 8" descr="A red and black logo&#10;&#10;Description automatically generated">
              <a:extLst>
                <a:ext uri="{FF2B5EF4-FFF2-40B4-BE49-F238E27FC236}">
                  <a16:creationId xmlns:a16="http://schemas.microsoft.com/office/drawing/2014/main" id="{A073F522-383D-4F56-A89A-2AE55EE128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21" y="0"/>
              <a:ext cx="1594104" cy="8966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697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2" r:id="rId4"/>
    <p:sldLayoutId id="2147483657" r:id="rId5"/>
    <p:sldLayoutId id="2147483655" r:id="rId6"/>
    <p:sldLayoutId id="2147483659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03D4-39F5-443D-82CF-440168700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52" y="958224"/>
            <a:ext cx="11304896" cy="2717800"/>
          </a:xfrm>
        </p:spPr>
        <p:txBody>
          <a:bodyPr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 KẾ VI MẠCH ỔN ÁP TUYẾN TÍNH LDO VỚI ĐÁP ỨNG DẢI TẢI RỘNG</a:t>
            </a:r>
            <a:br>
              <a:rPr lang="vi-V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TRÊN CÔNG NGHỆ CMOS 180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vi-V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976AD-0085-48DD-9203-7FE585A397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LÊ MINH HIỂN</a:t>
            </a:r>
          </a:p>
          <a:p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20/09/2026</a:t>
            </a:r>
          </a:p>
        </p:txBody>
      </p:sp>
    </p:spTree>
    <p:extLst>
      <p:ext uri="{BB962C8B-B14F-4D97-AF65-F5344CB8AC3E}">
        <p14:creationId xmlns:p14="http://schemas.microsoft.com/office/powerpoint/2010/main" val="194838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C2385-B32F-51BE-039F-26051518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D6483-F752-5272-C8C5-0593A5342AB3}"/>
              </a:ext>
            </a:extLst>
          </p:cNvPr>
          <p:cNvSpPr txBox="1"/>
          <p:nvPr/>
        </p:nvSpPr>
        <p:spPr>
          <a:xfrm>
            <a:off x="371929" y="1720840"/>
            <a:ext cx="114481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Bản chất: Là một bộ đệm điện áp tương tự cải tiến từ mạch source-follower truyền thống, bổ sung vòng hồi tiếp âm cục bộ tốc độ cao.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Đặc tính trở kháng: Ép trở kháng ngõ ra xuống mức rất thấp, khắc phục hiện tượng trôi/sụt áp khi có tải.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ưu điểm kỹ thuật cốt lõi: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Trở kháng ra nhỏ: Giữ ổn định mức áp ngõ ra khi kết nối tải.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Khả năng cấp dòng cao: Có thể kéo/cấp tải dòng lớn mà không làm biến dạng áp.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Tương thích nguồn thấp: Tận dụng tối đa khoảng điện áp hoạt động (headroom).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Băng thông cực cao: Tần số đáp ứng rộng, xử lý tín hiệu và triệt tiêu nhiễu tần số cao.</a:t>
            </a:r>
          </a:p>
        </p:txBody>
      </p:sp>
    </p:spTree>
    <p:extLst>
      <p:ext uri="{BB962C8B-B14F-4D97-AF65-F5344CB8AC3E}">
        <p14:creationId xmlns:p14="http://schemas.microsoft.com/office/powerpoint/2010/main" val="413432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68FA5-B37E-0C0D-C3DD-4D66539B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7909F-C743-5CEE-E090-0B8087EC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257" y="1016617"/>
            <a:ext cx="9637486" cy="482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9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B3B539-E251-4AEE-A72A-893535E27A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thiết kế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846D1DA-3AFE-43F4-8E3C-0C699C64D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3247D-93D9-4D9B-8859-C1CE0E47F8C5}"/>
              </a:ext>
            </a:extLst>
          </p:cNvPr>
          <p:cNvSpPr txBox="1"/>
          <p:nvPr/>
        </p:nvSpPr>
        <p:spPr>
          <a:xfrm>
            <a:off x="3592752" y="1486904"/>
            <a:ext cx="5852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Bảng 1. Mục tiêu thiết kế của mạch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6209BF-0B23-4763-BFA5-64A7129DAF81}"/>
              </a:ext>
            </a:extLst>
          </p:cNvPr>
          <p:cNvSpPr/>
          <p:nvPr/>
        </p:nvSpPr>
        <p:spPr>
          <a:xfrm>
            <a:off x="12027350" y="831297"/>
            <a:ext cx="144000" cy="144000"/>
          </a:xfrm>
          <a:prstGeom prst="ellipse">
            <a:avLst/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83C3C6-06F3-46BD-8509-99FB6E48EA52}"/>
              </a:ext>
            </a:extLst>
          </p:cNvPr>
          <p:cNvSpPr/>
          <p:nvPr/>
        </p:nvSpPr>
        <p:spPr>
          <a:xfrm>
            <a:off x="11813038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A1AD74-EDE3-43C9-996A-AF1A3C9A31B9}"/>
              </a:ext>
            </a:extLst>
          </p:cNvPr>
          <p:cNvSpPr/>
          <p:nvPr/>
        </p:nvSpPr>
        <p:spPr>
          <a:xfrm>
            <a:off x="11598726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81BECB-4CAC-43FF-96B1-C05ED3C54067}"/>
              </a:ext>
            </a:extLst>
          </p:cNvPr>
          <p:cNvSpPr/>
          <p:nvPr/>
        </p:nvSpPr>
        <p:spPr>
          <a:xfrm>
            <a:off x="11384414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3A99BD-9ACA-4F8A-8587-8EE8BBA9C60E}"/>
              </a:ext>
            </a:extLst>
          </p:cNvPr>
          <p:cNvSpPr/>
          <p:nvPr/>
        </p:nvSpPr>
        <p:spPr>
          <a:xfrm>
            <a:off x="11170102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6657FAE-A6FE-4578-A5E0-55AEC3FAB63E}"/>
              </a:ext>
            </a:extLst>
          </p:cNvPr>
          <p:cNvSpPr/>
          <p:nvPr/>
        </p:nvSpPr>
        <p:spPr>
          <a:xfrm>
            <a:off x="10955790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BADE1F-EA78-439F-B2A6-123490093F6C}"/>
              </a:ext>
            </a:extLst>
          </p:cNvPr>
          <p:cNvSpPr/>
          <p:nvPr/>
        </p:nvSpPr>
        <p:spPr>
          <a:xfrm>
            <a:off x="10741478" y="834910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EB53124-0C56-4BF4-A3A7-DCC474C81B82}"/>
              </a:ext>
            </a:extLst>
          </p:cNvPr>
          <p:cNvSpPr/>
          <p:nvPr/>
        </p:nvSpPr>
        <p:spPr>
          <a:xfrm>
            <a:off x="10527166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C47919-110A-483D-BE27-85599E3C5564}"/>
              </a:ext>
            </a:extLst>
          </p:cNvPr>
          <p:cNvSpPr/>
          <p:nvPr/>
        </p:nvSpPr>
        <p:spPr>
          <a:xfrm>
            <a:off x="10312854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8334F-E002-488A-95CC-F43AFA8A9CE6}"/>
              </a:ext>
            </a:extLst>
          </p:cNvPr>
          <p:cNvSpPr/>
          <p:nvPr/>
        </p:nvSpPr>
        <p:spPr>
          <a:xfrm>
            <a:off x="10098542" y="831297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5562327-7168-47A9-B253-C5C8F49C727E}"/>
              </a:ext>
            </a:extLst>
          </p:cNvPr>
          <p:cNvSpPr/>
          <p:nvPr/>
        </p:nvSpPr>
        <p:spPr>
          <a:xfrm>
            <a:off x="9890050" y="834910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BE5B83-41AC-4D1A-BE35-B00A85A3AF8C}"/>
              </a:ext>
            </a:extLst>
          </p:cNvPr>
          <p:cNvSpPr/>
          <p:nvPr/>
        </p:nvSpPr>
        <p:spPr>
          <a:xfrm>
            <a:off x="9675738" y="834910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795CDD-ED8B-4327-877A-59EB5B691DC7}"/>
              </a:ext>
            </a:extLst>
          </p:cNvPr>
          <p:cNvSpPr/>
          <p:nvPr/>
        </p:nvSpPr>
        <p:spPr>
          <a:xfrm>
            <a:off x="9461426" y="834910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DDF329F5-6244-4701-A89F-A648B12E7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314164"/>
              </p:ext>
            </p:extLst>
          </p:nvPr>
        </p:nvGraphicFramePr>
        <p:xfrm>
          <a:off x="142240" y="1845301"/>
          <a:ext cx="11885110" cy="4346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5792">
                  <a:extLst>
                    <a:ext uri="{9D8B030D-6E8A-4147-A177-3AD203B41FA5}">
                      <a16:colId xmlns:a16="http://schemas.microsoft.com/office/drawing/2014/main" val="525934996"/>
                    </a:ext>
                  </a:extLst>
                </a:gridCol>
                <a:gridCol w="2028252">
                  <a:extLst>
                    <a:ext uri="{9D8B030D-6E8A-4147-A177-3AD203B41FA5}">
                      <a16:colId xmlns:a16="http://schemas.microsoft.com/office/drawing/2014/main" val="3127541105"/>
                    </a:ext>
                  </a:extLst>
                </a:gridCol>
                <a:gridCol w="2377022">
                  <a:extLst>
                    <a:ext uri="{9D8B030D-6E8A-4147-A177-3AD203B41FA5}">
                      <a16:colId xmlns:a16="http://schemas.microsoft.com/office/drawing/2014/main" val="434208549"/>
                    </a:ext>
                  </a:extLst>
                </a:gridCol>
                <a:gridCol w="2377022">
                  <a:extLst>
                    <a:ext uri="{9D8B030D-6E8A-4147-A177-3AD203B41FA5}">
                      <a16:colId xmlns:a16="http://schemas.microsoft.com/office/drawing/2014/main" val="4147038962"/>
                    </a:ext>
                  </a:extLst>
                </a:gridCol>
                <a:gridCol w="2377022">
                  <a:extLst>
                    <a:ext uri="{9D8B030D-6E8A-4147-A177-3AD203B41FA5}">
                      <a16:colId xmlns:a16="http://schemas.microsoft.com/office/drawing/2014/main" val="1912640426"/>
                    </a:ext>
                  </a:extLst>
                </a:gridCol>
              </a:tblGrid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 số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Nhỏ nhất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 bản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 nhất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 vị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784816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Nguồn cấp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168607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Dòng tĩnh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≤ 400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µA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586950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 áp đầu ra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460640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 áp tham chiếu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488663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 sụt áp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≤ 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369302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 lợi vòng lặp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40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08246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 tổng vòng lặp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45</a:t>
                      </a:r>
                      <a:r>
                        <a:rPr lang="vi-VN" sz="1800" kern="120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</a:t>
                      </a:r>
                      <a:endParaRPr 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487797"/>
                  </a:ext>
                </a:extLst>
              </a:tr>
              <a:tr h="52747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 ứng điều tiết nguồn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≤ 0.05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695579"/>
                  </a:ext>
                </a:extLst>
              </a:tr>
              <a:tr h="301411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 ứng điều tiết tải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≤ 0.05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104054"/>
                  </a:ext>
                </a:extLst>
              </a:tr>
              <a:tr h="52747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 số triệt nhiễu nguồn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30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02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24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DD8A74-CE90-D081-2D6F-DFB17A48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90B6D-DC51-5E99-6C20-C4FCE630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503" y="1219201"/>
            <a:ext cx="4922993" cy="4000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1CB20C-CB99-13BF-24C1-7AAE43D57279}"/>
              </a:ext>
            </a:extLst>
          </p:cNvPr>
          <p:cNvSpPr txBox="1"/>
          <p:nvPr/>
        </p:nvSpPr>
        <p:spPr>
          <a:xfrm>
            <a:off x="3213639" y="5513469"/>
            <a:ext cx="5764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1. Sơ đồ nguyên lý mạch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 điện áp tham chiếu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734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82CD43-97C1-1605-A3D2-4DDF78B8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D07CC-4FC6-AC31-8337-9EF37ADA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7" y="1239305"/>
            <a:ext cx="5730737" cy="1621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159AF2-4E9E-149E-76E9-CA6AB1A5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17" y="3183132"/>
            <a:ext cx="5730737" cy="1627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D446F2-B6C7-889A-8B18-B43B141E9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51" y="1530828"/>
            <a:ext cx="5730737" cy="1158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15E5EB-7AE8-99BE-4CBE-5FD1D1C3D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360" y="3339705"/>
            <a:ext cx="5590517" cy="16582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F9E35A-EFCB-3D98-79A5-1308970C4086}"/>
              </a:ext>
            </a:extLst>
          </p:cNvPr>
          <p:cNvSpPr txBox="1"/>
          <p:nvPr/>
        </p:nvSpPr>
        <p:spPr>
          <a:xfrm>
            <a:off x="1233835" y="5133055"/>
            <a:ext cx="9724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2.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điện áp đầu 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độ ổn định mạch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 điện áp tham chiếu khi mô phỏng PVT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247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45629-4A4F-F7A4-8D58-E240A28D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C01698-A0BA-2501-ED3B-6CDB797E5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2" y="1340939"/>
            <a:ext cx="10370195" cy="4176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D2AFA7-2ABB-6E71-FC77-32120FFE4A5B}"/>
              </a:ext>
            </a:extLst>
          </p:cNvPr>
          <p:cNvSpPr txBox="1"/>
          <p:nvPr/>
        </p:nvSpPr>
        <p:spPr>
          <a:xfrm>
            <a:off x="2984410" y="5517061"/>
            <a:ext cx="6223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Sơ đồ khối tổng quát mạch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4184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4D80AD-4E08-4083-6E00-D6D4C40E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2E5CC-5BFE-067C-B9E6-FEDAF1CB5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77" y="1044012"/>
            <a:ext cx="6401645" cy="4769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AEEAB-FA0D-1B6D-AEB0-B23F5F064257}"/>
              </a:ext>
            </a:extLst>
          </p:cNvPr>
          <p:cNvSpPr txBox="1"/>
          <p:nvPr/>
        </p:nvSpPr>
        <p:spPr>
          <a:xfrm>
            <a:off x="3284973" y="5117110"/>
            <a:ext cx="5115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Sơ đồ khối tổng quát mạch bảo vệ quá dòng. </a:t>
            </a:r>
          </a:p>
        </p:txBody>
      </p:sp>
    </p:spTree>
    <p:extLst>
      <p:ext uri="{BB962C8B-B14F-4D97-AF65-F5344CB8AC3E}">
        <p14:creationId xmlns:p14="http://schemas.microsoft.com/office/powerpoint/2010/main" val="423742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7A1E37-C30F-8301-A530-C524FD8A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C8561-BA35-69DD-6E3D-4210AE9B8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083" y="2205084"/>
            <a:ext cx="8617833" cy="2447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1344A4-5A60-84AE-B794-0874A6B4730C}"/>
              </a:ext>
            </a:extLst>
          </p:cNvPr>
          <p:cNvSpPr txBox="1"/>
          <p:nvPr/>
        </p:nvSpPr>
        <p:spPr>
          <a:xfrm>
            <a:off x="1787083" y="4843417"/>
            <a:ext cx="8661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5.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điện áp đầu ra của mạch ổn áp tuyến tính LDO ở điều kiện thường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077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3BCB44-74AF-A9CE-14D1-0255C22D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FAF85-F591-436F-8B36-E6988414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23" y="2206646"/>
            <a:ext cx="8687553" cy="2444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7FA2F0-7F9C-F1F5-342E-0211BBF907DF}"/>
              </a:ext>
            </a:extLst>
          </p:cNvPr>
          <p:cNvSpPr txBox="1"/>
          <p:nvPr/>
        </p:nvSpPr>
        <p:spPr>
          <a:xfrm>
            <a:off x="2447404" y="4846320"/>
            <a:ext cx="7297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6.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mô phỏng độ sụt áp của mạch ổn áp tuyến tính LDO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5984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05C68F-1DBB-AB1D-5A3C-CCC598A5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7EC8A1-F7D1-DA07-5196-78CB14E2D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75" y="2194453"/>
            <a:ext cx="8693649" cy="2469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6BB523-DE8E-A29E-BFF0-64414322A575}"/>
              </a:ext>
            </a:extLst>
          </p:cNvPr>
          <p:cNvSpPr txBox="1"/>
          <p:nvPr/>
        </p:nvSpPr>
        <p:spPr>
          <a:xfrm>
            <a:off x="944524" y="4816566"/>
            <a:ext cx="996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7.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độ lợi vòng lặp và pha tổng của mạch ổn áp tuyến tính LDO ở điều kiện thường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711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AE24D7-A209-3402-8473-7BD9A009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79FA9-12B1-CDFE-9849-6617BF64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75" y="2194453"/>
            <a:ext cx="8693649" cy="2469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6C9717-40C6-4D5E-BE69-8BAFEB8F1A39}"/>
              </a:ext>
            </a:extLst>
          </p:cNvPr>
          <p:cNvSpPr txBox="1"/>
          <p:nvPr/>
        </p:nvSpPr>
        <p:spPr>
          <a:xfrm>
            <a:off x="1031952" y="4823097"/>
            <a:ext cx="10128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8.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hệ số triệt nhiễu nguồn PSRR của mạch ổn áp tuyến tính LDO ở điều kiện thường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356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0D470-D204-E559-D9AE-FE187D2C7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E1669-4BFA-E217-CB62-0EE5E908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03" y="2194453"/>
            <a:ext cx="8791194" cy="2469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12BCE-F686-A37C-535B-7D3C11A5A0A5}"/>
              </a:ext>
            </a:extLst>
          </p:cNvPr>
          <p:cNvSpPr txBox="1"/>
          <p:nvPr/>
        </p:nvSpPr>
        <p:spPr>
          <a:xfrm>
            <a:off x="1887957" y="4862286"/>
            <a:ext cx="8416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9.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thị mô phỏng đáp ứng điều tiết tải của mạch ổn áp tuyến tính LDO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552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392C48-3ED6-44E5-E263-D451E7B3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DCA22-6B56-79B0-A756-FC1E88323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80" y="1389425"/>
            <a:ext cx="5584420" cy="1999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B54749-8190-757C-B723-FB3A601A2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80" y="4334621"/>
            <a:ext cx="5730737" cy="1133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B52EB2-55F6-3A7D-6B21-7B209A726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796" y="2701147"/>
            <a:ext cx="5730737" cy="1286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CA3A86-5F0D-EE9E-4155-CBF786041A97}"/>
              </a:ext>
            </a:extLst>
          </p:cNvPr>
          <p:cNvSpPr txBox="1"/>
          <p:nvPr/>
        </p:nvSpPr>
        <p:spPr>
          <a:xfrm>
            <a:off x="609687" y="3468915"/>
            <a:ext cx="5388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10.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mô phỏng PVT mạch tổng LDO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22570-6911-AEED-7F1B-7C38ADCE148B}"/>
              </a:ext>
            </a:extLst>
          </p:cNvPr>
          <p:cNvSpPr txBox="1"/>
          <p:nvPr/>
        </p:nvSpPr>
        <p:spPr>
          <a:xfrm>
            <a:off x="511580" y="5497554"/>
            <a:ext cx="5830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Đáp ứng điều tiết nguồn theo mô phỏng PVT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3AB29-D2DF-CBBE-003F-108754BCDEF3}"/>
              </a:ext>
            </a:extLst>
          </p:cNvPr>
          <p:cNvSpPr txBox="1"/>
          <p:nvPr/>
        </p:nvSpPr>
        <p:spPr>
          <a:xfrm>
            <a:off x="6620249" y="4134566"/>
            <a:ext cx="5444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11.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Đáp ứng điều tiết tải theo mô phỏng PVT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265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2288B8-24D6-1111-0078-A38F33AA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mạch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ổn áp tuyến tính LDO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9992E-850E-C5AF-186B-6DF1A8CE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1" y="1816745"/>
            <a:ext cx="11485718" cy="3224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4CCE26-B3F5-6411-F785-E3DB281711DB}"/>
              </a:ext>
            </a:extLst>
          </p:cNvPr>
          <p:cNvSpPr txBox="1"/>
          <p:nvPr/>
        </p:nvSpPr>
        <p:spPr>
          <a:xfrm>
            <a:off x="4102505" y="5239659"/>
            <a:ext cx="4115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Hình 13.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MC điện áp đầu ra </a:t>
            </a:r>
          </a:p>
        </p:txBody>
      </p:sp>
    </p:spTree>
    <p:extLst>
      <p:ext uri="{BB962C8B-B14F-4D97-AF65-F5344CB8AC3E}">
        <p14:creationId xmlns:p14="http://schemas.microsoft.com/office/powerpoint/2010/main" val="3137086708"/>
      </p:ext>
    </p:extLst>
  </p:cSld>
  <p:clrMapOvr>
    <a:masterClrMapping/>
  </p:clrMapOvr>
</p:sld>
</file>

<file path=ppt/theme/theme1.xml><?xml version="1.0" encoding="utf-8"?>
<a:theme xmlns:a="http://schemas.openxmlformats.org/drawingml/2006/main" name="Vienamese Template">
  <a:themeElements>
    <a:clrScheme name="Custom 1">
      <a:dk1>
        <a:srgbClr val="222A35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586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Vienamese Template</vt:lpstr>
      <vt:lpstr>THIẾT KẾ VI MẠCH ỔN ÁP TUYẾN TÍNH LDO VỚI ĐÁP ỨNG DẢI TẢI RỘNG TRÊN CÔNG NGHỆ CMOS 180NM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  <vt:lpstr>PowerPoint Presentation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  <vt:lpstr>Thiết kế mạch ổn áp tuyến tính LDO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 Hoàng</dc:creator>
  <cp:lastModifiedBy>leminhhien2023604193@gmail.com</cp:lastModifiedBy>
  <cp:revision>105</cp:revision>
  <dcterms:created xsi:type="dcterms:W3CDTF">2023-12-15T13:18:10Z</dcterms:created>
  <dcterms:modified xsi:type="dcterms:W3CDTF">2026-09-22T16:05:35Z</dcterms:modified>
</cp:coreProperties>
</file>